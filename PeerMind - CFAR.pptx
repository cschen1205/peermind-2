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y="5143500" cx="9144000"/>
  <p:notesSz cx="6858000" cy="9144000"/>
  <p:embeddedFontLst>
    <p:embeddedFont>
      <p:font typeface="Helvetica Neue"/>
      <p:regular r:id="rId16"/>
      <p:bold r:id="rId17"/>
      <p:italic r:id="rId18"/>
      <p:boldItalic r:id="rId1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font" Target="fonts/HelveticaNeue-bold.fntdata"/><Relationship Id="rId16" Type="http://schemas.openxmlformats.org/officeDocument/2006/relationships/font" Target="fonts/HelveticaNeue-regular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HelveticaNeue-boldItalic.fntdata"/><Relationship Id="rId6" Type="http://schemas.openxmlformats.org/officeDocument/2006/relationships/slide" Target="slides/slide1.xml"/><Relationship Id="rId18" Type="http://schemas.openxmlformats.org/officeDocument/2006/relationships/font" Target="fonts/HelveticaNeue-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" name="Shape 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8;g3fa770d0d02_2_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" name="Google Shape;9;g3fa770d0d02_2_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Open with the market, then narrow to the unresolved author problem.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This slide summarizes emphasis on official product pages. It does not claim that these products lack all verification features.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Sources accessed 2026-09-09: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https://paperpal.com/preflight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https://peergenius.ai/product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https://www.frontiersin.org/about/artificial-intelligence</a:t>
            </a:r>
            <a:endParaRPr/>
          </a:p>
        </p:txBody>
      </p:sp>
      <p:sp>
        <p:nvSpPr>
          <p:cNvPr id="10" name="Google Shape;10;g3fa770d0d02_2_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g38b9acfa2f0_0_208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6" name="Google Shape;16;g38b9acfa2f0_0_208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Open with the market, then narrow to the unresolved author problem.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This slide summarizes emphasis on official product pages. It does not claim that these products lack all verification features.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Sources accessed 2026-09-09: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https://paperpal.com/preflight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https://peergenius.ai/product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https://www.frontiersin.org/about/artificial-intelligence</a:t>
            </a:r>
            <a:endParaRPr/>
          </a:p>
        </p:txBody>
      </p:sp>
      <p:sp>
        <p:nvSpPr>
          <p:cNvPr id="17" name="Google Shape;17;g38b9acfa2f0_0_208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g38b9acfa2f0_0_3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1" name="Google Shape;41;g38b9acfa2f0_0_3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These are original PeerMind simulation outputs, not quotations from the human or AI review source files.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The first is a false absence claim. The second applies a useful but optional evaluation criterion as if it were a validity requirement.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The third is included as a narrow valid control so the audience sees that the defender does not simply reject reviewers.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Project source: /Users/chupeng/Documents/ChatGPT/astar hackathon/outputs/peermind-demo-model-soups.html</a:t>
            </a:r>
            <a:endParaRPr/>
          </a:p>
        </p:txBody>
      </p:sp>
      <p:sp>
        <p:nvSpPr>
          <p:cNvPr id="42" name="Google Shape;42;g38b9acfa2f0_0_3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fa770d0d02_2_97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6" name="Google Shape;66;g3fa770d0d02_2_97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Be explicit about the prototype boundary. The current HTML is an interactive simulation with local PDF extraction and prepared workflows.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The intended production system keeps the same contracts but replaces prepared steps with orchestrated agents and tools.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Project source: /Users/chupeng/Documents/ChatGPT/astar hackathon/outputs/peermind-demo-model-soups.html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Source: CFAR_Hackthon.pdf, section 7 requests architecture, tools, workflow, technical decisions and evaluation evidence.</a:t>
            </a:r>
            <a:endParaRPr/>
          </a:p>
        </p:txBody>
      </p:sp>
      <p:sp>
        <p:nvSpPr>
          <p:cNvPr id="67" name="Google Shape;67;g3fa770d0d02_2_97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38b9acfa2f0_0_159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01" name="Google Shape;101;g38b9acfa2f0_0_159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The system first converts the PDF into a knowledge graph. It extracts questions, claims, methods, results, assumptions and source locations, then connects records such as a claim to its supporting method and figure.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This graph makes evidence retrieval targeted. A reviewer can inspect the neighborhood around a claim and follow each record back to the exact paragraph, table, figure or appendix section.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The multi-agent layer stays simple. A coordinator retrieves the relevant subgraph and assigns only the checks needed for the critique, such as contribution, method, numerical or scope checks.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Reviewer outputs include graph record IDs, exact source locations, supporting evidence, counter-evidence and a falsification condition. The defender can reproduce the search and challenge the critique.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Prototype boundary: the current frontend simulates this orchestration. A production implementation would replace prepared steps with live tool-using agents while preserving the same evidence contract.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Project source: /Users/chupeng/Documents/ChatGPT/astar hackathon/outputs/peermind-demo-model-soups.html</a:t>
            </a:r>
            <a:endParaRPr/>
          </a:p>
        </p:txBody>
      </p:sp>
      <p:sp>
        <p:nvSpPr>
          <p:cNvPr id="102" name="Google Shape;102;g38b9acfa2f0_0_159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3fa770d0d02_2_135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43" name="Google Shape;143;g3fa770d0d02_2_135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The evidence ledger is the shared state and audit boundary.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Specialists do not vote. They return typed evidence records that the defender reconciles.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The workflow stops as Unverified when required evidence or tool access is missing.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Project source: /Users/chupeng/Documents/ChatGPT/astar hackathon/outputs/peermind-demo-model-soups.html</a:t>
            </a:r>
            <a:endParaRPr/>
          </a:p>
        </p:txBody>
      </p:sp>
      <p:sp>
        <p:nvSpPr>
          <p:cNvPr id="144" name="Google Shape;144;g3fa770d0d02_2_135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g3fa770d0d02_2_190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97" name="Google Shape;197;g3fa770d0d02_2_190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This is the core differentiator. We are testing response sensitivity to a controlled evidence intervention.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The control matters. Without it, any verdict change could be caused by generic editing or instability.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A counterfactual copy is a verification fixture. It does not pretend that the original authors ran a new experiment.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Project source: /Users/chupeng/Documents/ChatGPT/astar hackathon/outputs/peermind-demo-model-soups.html</a:t>
            </a:r>
            <a:endParaRPr/>
          </a:p>
        </p:txBody>
      </p:sp>
      <p:sp>
        <p:nvSpPr>
          <p:cNvPr id="198" name="Google Shape;198;g3fa770d0d02_2_190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g3fa770d0d02_2_270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28" name="Google Shape;228;g3fa770d0d02_2_270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Do not present the five-case demo as performance evidence.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The strongest first evaluation is a controlled, finding-level ablation: reviewer only, reviewer MAS, evidence defender, then full counterfactual verifier.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Limitations: one curated paper, simulated orchestration, heuristic extraction for arbitrary PDFs, no external-source retrieval, and human reviews are not infallible ground truth.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Source: CFAR_Hackthon.pdf, sections 6 to 8 on objective evaluation, failure modes and demonstration evidence.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Project source: /Users/chupeng/Documents/ChatGPT/astar hackathon/outputs/peermind-demo-model-soups.html</a:t>
            </a:r>
            <a:endParaRPr/>
          </a:p>
        </p:txBody>
      </p:sp>
      <p:sp>
        <p:nvSpPr>
          <p:cNvPr id="229" name="Google Shape;229;g3fa770d0d02_2_270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g3fa770d0d02_2_31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67" name="Google Shape;267;g3fa770d0d02_2_31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Close on the reusable control protocol, not the frontend.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The same ledger and counterfactual fixture pattern can test proposal claims, literature contradictions and research planning assumptions.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A practical next step is a local or Docker service with a stable JSON contract, followed by a blinded CFAR pilot.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Source: CFAR_Hackthon.pdf, judging criteria for reusable asset potential, technical rigor and agentic design.</a:t>
            </a:r>
            <a:endParaRPr/>
          </a:p>
        </p:txBody>
      </p:sp>
      <p:sp>
        <p:nvSpPr>
          <p:cNvPr id="268" name="Google Shape;268;g3fa770d0d02_2_31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38b9acfa2f0_0_23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06" name="Google Shape;306;g38b9acfa2f0_0_23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Open with the market, then narrow to the unresolved author problem.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This slide summarizes emphasis on official product pages. It does not claim that these products lack all verification features.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Sources accessed 2026-09-09: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https://paperpal.com/preflight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https://peergenius.ai/product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https://www.frontiersin.org/about/artificial-intelligence</a:t>
            </a:r>
            <a:endParaRPr/>
          </a:p>
        </p:txBody>
      </p:sp>
      <p:sp>
        <p:nvSpPr>
          <p:cNvPr id="307" name="Google Shape;307;g38b9acfa2f0_0_23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6" name="Shape 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7FB"/>
        </a:solidFill>
      </p:bgPr>
    </p:bg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"/>
          <p:cNvSpPr/>
          <p:nvPr/>
        </p:nvSpPr>
        <p:spPr>
          <a:xfrm>
            <a:off x="457200" y="1553600"/>
            <a:ext cx="8229600" cy="146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15172B"/>
              </a:buClr>
              <a:buSzPts val="2700"/>
              <a:buFont typeface="Helvetica Neue"/>
              <a:buNone/>
            </a:pPr>
            <a:r>
              <a:rPr b="1" lang="en" sz="2700">
                <a:solidFill>
                  <a:srgbClr val="15172B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PeerMind: Evidence-based AI Peer Reviewer with Counterfactual Verification </a:t>
            </a:r>
            <a:endParaRPr b="1" sz="2700">
              <a:solidFill>
                <a:srgbClr val="15172B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15172B"/>
              </a:buClr>
              <a:buSzPts val="2700"/>
              <a:buFont typeface="Helvetica Neue"/>
              <a:buNone/>
            </a:pPr>
            <a:r>
              <a:t/>
            </a:r>
            <a:endParaRPr b="1" sz="2700">
              <a:solidFill>
                <a:srgbClr val="15172B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15172B"/>
              </a:buClr>
              <a:buSzPts val="2700"/>
              <a:buFont typeface="Helvetica Neue"/>
              <a:buNone/>
            </a:pPr>
            <a:r>
              <a:rPr b="1" lang="en" sz="1300">
                <a:solidFill>
                  <a:srgbClr val="15172B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Chen Caishun, Feng Zeyu, Wong Jian Cheng, Dai Chupeng, </a:t>
            </a:r>
            <a:r>
              <a:rPr b="1" lang="en" sz="1300">
                <a:solidFill>
                  <a:srgbClr val="15172B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He Tiantian</a:t>
            </a:r>
            <a:endParaRPr b="1" sz="1300">
              <a:solidFill>
                <a:srgbClr val="15172B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3" name="Google Shape;13;p3"/>
          <p:cNvSpPr/>
          <p:nvPr/>
        </p:nvSpPr>
        <p:spPr>
          <a:xfrm>
            <a:off x="8343900" y="4922044"/>
            <a:ext cx="342900" cy="142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6252CC"/>
              </a:buClr>
              <a:buSzPts val="700"/>
              <a:buFont typeface="Helvetica Neue"/>
              <a:buNone/>
            </a:pPr>
            <a:r>
              <a:rPr b="1" i="0" lang="en" sz="700">
                <a:solidFill>
                  <a:srgbClr val="6252CC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01</a:t>
            </a:r>
            <a:endParaRPr sz="11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7FB"/>
        </a:solidFill>
      </p:bgPr>
    </p:bg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4"/>
          <p:cNvSpPr/>
          <p:nvPr/>
        </p:nvSpPr>
        <p:spPr>
          <a:xfrm>
            <a:off x="1653000" y="3574300"/>
            <a:ext cx="5838000" cy="9708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" name="Google Shape;20;p4"/>
          <p:cNvSpPr/>
          <p:nvPr/>
        </p:nvSpPr>
        <p:spPr>
          <a:xfrm>
            <a:off x="457200" y="285750"/>
            <a:ext cx="2286000" cy="2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6252CC"/>
              </a:buClr>
              <a:buSzPts val="800"/>
              <a:buFont typeface="Helvetica Neue"/>
              <a:buNone/>
            </a:pPr>
            <a:r>
              <a:rPr b="1" i="0" lang="en" sz="800">
                <a:solidFill>
                  <a:srgbClr val="6252CC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PEERMIND</a:t>
            </a:r>
            <a:endParaRPr sz="1100"/>
          </a:p>
        </p:txBody>
      </p:sp>
      <p:sp>
        <p:nvSpPr>
          <p:cNvPr id="21" name="Google Shape;21;p4"/>
          <p:cNvSpPr/>
          <p:nvPr/>
        </p:nvSpPr>
        <p:spPr>
          <a:xfrm>
            <a:off x="457200" y="585800"/>
            <a:ext cx="8229600" cy="6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15172B"/>
              </a:buClr>
              <a:buSzPts val="2700"/>
              <a:buFont typeface="Helvetica Neue"/>
              <a:buNone/>
            </a:pPr>
            <a:r>
              <a:rPr b="1" i="0" lang="en" sz="2700">
                <a:solidFill>
                  <a:srgbClr val="15172B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AI review is getting fast.</a:t>
            </a:r>
            <a:r>
              <a:rPr lang="en" sz="1100"/>
              <a:t> </a:t>
            </a:r>
            <a:r>
              <a:rPr b="1" i="0" lang="en" sz="2700">
                <a:solidFill>
                  <a:srgbClr val="15172B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Trust is still manual.</a:t>
            </a:r>
            <a:endParaRPr sz="1100"/>
          </a:p>
        </p:txBody>
      </p:sp>
      <p:sp>
        <p:nvSpPr>
          <p:cNvPr id="22" name="Google Shape;22;p4"/>
          <p:cNvSpPr/>
          <p:nvPr/>
        </p:nvSpPr>
        <p:spPr>
          <a:xfrm>
            <a:off x="457200" y="1350963"/>
            <a:ext cx="8001000" cy="2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5172B"/>
              </a:buClr>
              <a:buSzPts val="1400"/>
              <a:buFont typeface="Helvetica Neue"/>
              <a:buNone/>
            </a:pPr>
            <a:r>
              <a:rPr b="1" i="0" lang="en" sz="1400">
                <a:solidFill>
                  <a:srgbClr val="15172B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Current AI-review products emphasize different parts of the workflow</a:t>
            </a:r>
            <a:endParaRPr sz="1100"/>
          </a:p>
        </p:txBody>
      </p:sp>
      <p:cxnSp>
        <p:nvCxnSpPr>
          <p:cNvPr id="23" name="Google Shape;23;p4"/>
          <p:cNvCxnSpPr/>
          <p:nvPr/>
        </p:nvCxnSpPr>
        <p:spPr>
          <a:xfrm>
            <a:off x="457100" y="1679575"/>
            <a:ext cx="7877700" cy="0"/>
          </a:xfrm>
          <a:prstGeom prst="straightConnector1">
            <a:avLst/>
          </a:prstGeom>
          <a:noFill/>
          <a:ln cap="flat" cmpd="sng" w="9525">
            <a:solidFill>
              <a:srgbClr val="D9DCE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4" name="Google Shape;24;p4"/>
          <p:cNvSpPr/>
          <p:nvPr/>
        </p:nvSpPr>
        <p:spPr>
          <a:xfrm>
            <a:off x="1448600" y="1818459"/>
            <a:ext cx="2010600" cy="2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5172B"/>
              </a:buClr>
              <a:buSzPts val="1300"/>
              <a:buFont typeface="Helvetica Neue"/>
              <a:buNone/>
            </a:pPr>
            <a:r>
              <a:rPr i="0" lang="en" sz="1300">
                <a:solidFill>
                  <a:srgbClr val="15172B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Paperpal Preflight</a:t>
            </a:r>
            <a:endParaRPr sz="1100"/>
          </a:p>
        </p:txBody>
      </p:sp>
      <p:sp>
        <p:nvSpPr>
          <p:cNvPr id="25" name="Google Shape;25;p4"/>
          <p:cNvSpPr/>
          <p:nvPr/>
        </p:nvSpPr>
        <p:spPr>
          <a:xfrm>
            <a:off x="1448600" y="2479692"/>
            <a:ext cx="2010600" cy="6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667085"/>
              </a:buClr>
              <a:buSzPts val="1000"/>
              <a:buFont typeface="Helvetica Neue"/>
              <a:buNone/>
            </a:pPr>
            <a:r>
              <a:rPr b="0" i="0" lang="en" sz="1000">
                <a:solidFill>
                  <a:srgbClr val="667085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Reviewer-style assessment before submission.</a:t>
            </a:r>
            <a:endParaRPr sz="1100"/>
          </a:p>
        </p:txBody>
      </p:sp>
      <p:cxnSp>
        <p:nvCxnSpPr>
          <p:cNvPr id="26" name="Google Shape;26;p4"/>
          <p:cNvCxnSpPr/>
          <p:nvPr/>
        </p:nvCxnSpPr>
        <p:spPr>
          <a:xfrm>
            <a:off x="3685404" y="1808165"/>
            <a:ext cx="0" cy="1464600"/>
          </a:xfrm>
          <a:prstGeom prst="straightConnector1">
            <a:avLst/>
          </a:prstGeom>
          <a:noFill/>
          <a:ln cap="flat" cmpd="sng" w="9525">
            <a:solidFill>
              <a:srgbClr val="D9DCE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7" name="Google Shape;27;p4"/>
          <p:cNvSpPr/>
          <p:nvPr/>
        </p:nvSpPr>
        <p:spPr>
          <a:xfrm>
            <a:off x="3886465" y="1818459"/>
            <a:ext cx="2010600" cy="2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5172B"/>
              </a:buClr>
              <a:buSzPts val="1300"/>
              <a:buFont typeface="Helvetica Neue"/>
              <a:buNone/>
            </a:pPr>
            <a:r>
              <a:rPr i="0" lang="en" sz="1300">
                <a:solidFill>
                  <a:srgbClr val="15172B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PeerGenius</a:t>
            </a:r>
            <a:endParaRPr sz="1100"/>
          </a:p>
        </p:txBody>
      </p:sp>
      <p:sp>
        <p:nvSpPr>
          <p:cNvPr id="28" name="Google Shape;28;p4"/>
          <p:cNvSpPr/>
          <p:nvPr/>
        </p:nvSpPr>
        <p:spPr>
          <a:xfrm>
            <a:off x="3886465" y="2479692"/>
            <a:ext cx="2010600" cy="6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667085"/>
              </a:buClr>
              <a:buSzPts val="1000"/>
              <a:buFont typeface="Helvetica Neue"/>
              <a:buNone/>
            </a:pPr>
            <a:r>
              <a:rPr b="0" i="0" lang="en" sz="1000">
                <a:solidFill>
                  <a:srgbClr val="667085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Seven specialist reviewers in parallel, </a:t>
            </a:r>
            <a:r>
              <a:rPr lang="en" sz="1000">
                <a:solidFill>
                  <a:srgbClr val="667085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targeting various types of paper, producing holistic review</a:t>
            </a:r>
            <a:endParaRPr sz="1100"/>
          </a:p>
        </p:txBody>
      </p:sp>
      <p:cxnSp>
        <p:nvCxnSpPr>
          <p:cNvPr id="29" name="Google Shape;29;p4"/>
          <p:cNvCxnSpPr/>
          <p:nvPr/>
        </p:nvCxnSpPr>
        <p:spPr>
          <a:xfrm>
            <a:off x="6123270" y="1808165"/>
            <a:ext cx="0" cy="1464600"/>
          </a:xfrm>
          <a:prstGeom prst="straightConnector1">
            <a:avLst/>
          </a:prstGeom>
          <a:noFill/>
          <a:ln cap="flat" cmpd="sng" w="9525">
            <a:solidFill>
              <a:srgbClr val="D9DCE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0" name="Google Shape;30;p4"/>
          <p:cNvSpPr/>
          <p:nvPr/>
        </p:nvSpPr>
        <p:spPr>
          <a:xfrm>
            <a:off x="6324331" y="1818459"/>
            <a:ext cx="2010600" cy="2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5172B"/>
              </a:buClr>
              <a:buSzPts val="1300"/>
              <a:buFont typeface="Helvetica Neue"/>
              <a:buNone/>
            </a:pPr>
            <a:r>
              <a:rPr i="0" lang="en" sz="1300">
                <a:solidFill>
                  <a:srgbClr val="15172B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Frontiers AIRA</a:t>
            </a:r>
            <a:endParaRPr sz="1100"/>
          </a:p>
        </p:txBody>
      </p:sp>
      <p:sp>
        <p:nvSpPr>
          <p:cNvPr id="31" name="Google Shape;31;p4"/>
          <p:cNvSpPr/>
          <p:nvPr/>
        </p:nvSpPr>
        <p:spPr>
          <a:xfrm>
            <a:off x="6324331" y="2479692"/>
            <a:ext cx="2010600" cy="6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667085"/>
              </a:buClr>
              <a:buSzPts val="1000"/>
              <a:buFont typeface="Helvetica Neue"/>
              <a:buNone/>
            </a:pPr>
            <a:r>
              <a:rPr b="0" i="0" lang="en" sz="1000">
                <a:solidFill>
                  <a:srgbClr val="667085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Publishing integrity checks plus reviewer and editor assistance under human accountability.</a:t>
            </a:r>
            <a:endParaRPr sz="1100"/>
          </a:p>
        </p:txBody>
      </p:sp>
      <p:sp>
        <p:nvSpPr>
          <p:cNvPr id="32" name="Google Shape;32;p4"/>
          <p:cNvSpPr/>
          <p:nvPr/>
        </p:nvSpPr>
        <p:spPr>
          <a:xfrm>
            <a:off x="3730950" y="3684600"/>
            <a:ext cx="1682100" cy="1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D85B51"/>
              </a:buClr>
              <a:buSzPts val="700"/>
              <a:buFont typeface="Helvetica Neue"/>
              <a:buNone/>
            </a:pPr>
            <a:r>
              <a:rPr b="1" i="0" lang="en" sz="1200">
                <a:solidFill>
                  <a:srgbClr val="D85B5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Open question</a:t>
            </a:r>
            <a:endParaRPr sz="1600"/>
          </a:p>
        </p:txBody>
      </p:sp>
      <p:sp>
        <p:nvSpPr>
          <p:cNvPr id="33" name="Google Shape;33;p4"/>
          <p:cNvSpPr/>
          <p:nvPr/>
        </p:nvSpPr>
        <p:spPr>
          <a:xfrm>
            <a:off x="1168800" y="4021975"/>
            <a:ext cx="6806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5172B"/>
              </a:buClr>
              <a:buSzPts val="1200"/>
              <a:buFont typeface="Helvetica Neue"/>
              <a:buNone/>
            </a:pPr>
            <a:r>
              <a:rPr b="1" lang="en" sz="1200">
                <a:solidFill>
                  <a:srgbClr val="15172B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Can AI produce review comments that are worth the authors’ time and effort?</a:t>
            </a:r>
            <a:endParaRPr sz="1100"/>
          </a:p>
        </p:txBody>
      </p:sp>
      <p:sp>
        <p:nvSpPr>
          <p:cNvPr id="34" name="Google Shape;34;p4"/>
          <p:cNvSpPr/>
          <p:nvPr/>
        </p:nvSpPr>
        <p:spPr>
          <a:xfrm>
            <a:off x="8343900" y="4922044"/>
            <a:ext cx="342900" cy="14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6252CC"/>
              </a:buClr>
              <a:buSzPts val="700"/>
              <a:buFont typeface="Helvetica Neue"/>
              <a:buNone/>
            </a:pPr>
            <a:r>
              <a:rPr b="1" i="0" lang="en" sz="700">
                <a:solidFill>
                  <a:srgbClr val="6252CC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01</a:t>
            </a:r>
            <a:endParaRPr sz="1100"/>
          </a:p>
        </p:txBody>
      </p:sp>
      <p:cxnSp>
        <p:nvCxnSpPr>
          <p:cNvPr id="35" name="Google Shape;35;p4"/>
          <p:cNvCxnSpPr/>
          <p:nvPr/>
        </p:nvCxnSpPr>
        <p:spPr>
          <a:xfrm>
            <a:off x="457100" y="2228825"/>
            <a:ext cx="7877700" cy="0"/>
          </a:xfrm>
          <a:prstGeom prst="straightConnector1">
            <a:avLst/>
          </a:prstGeom>
          <a:noFill/>
          <a:ln cap="flat" cmpd="sng" w="9525">
            <a:solidFill>
              <a:srgbClr val="D9DCE8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6" name="Google Shape;36;p4"/>
          <p:cNvCxnSpPr/>
          <p:nvPr/>
        </p:nvCxnSpPr>
        <p:spPr>
          <a:xfrm>
            <a:off x="1258129" y="1765165"/>
            <a:ext cx="0" cy="1464600"/>
          </a:xfrm>
          <a:prstGeom prst="straightConnector1">
            <a:avLst/>
          </a:prstGeom>
          <a:noFill/>
          <a:ln cap="flat" cmpd="sng" w="9525">
            <a:solidFill>
              <a:srgbClr val="D9DCE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7" name="Google Shape;37;p4"/>
          <p:cNvSpPr/>
          <p:nvPr/>
        </p:nvSpPr>
        <p:spPr>
          <a:xfrm>
            <a:off x="457100" y="1792250"/>
            <a:ext cx="801000" cy="2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5172B"/>
              </a:buClr>
              <a:buSzPts val="1300"/>
              <a:buFont typeface="Helvetica Neue"/>
              <a:buNone/>
            </a:pPr>
            <a:r>
              <a:rPr b="1" lang="en" sz="1300">
                <a:solidFill>
                  <a:srgbClr val="15172B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Existing products</a:t>
            </a:r>
            <a:endParaRPr sz="1100"/>
          </a:p>
        </p:txBody>
      </p:sp>
      <p:sp>
        <p:nvSpPr>
          <p:cNvPr id="38" name="Google Shape;38;p4"/>
          <p:cNvSpPr/>
          <p:nvPr/>
        </p:nvSpPr>
        <p:spPr>
          <a:xfrm>
            <a:off x="457100" y="2422600"/>
            <a:ext cx="801000" cy="2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5172B"/>
              </a:buClr>
              <a:buSzPts val="1300"/>
              <a:buFont typeface="Helvetica Neue"/>
              <a:buNone/>
            </a:pPr>
            <a:r>
              <a:rPr b="1" lang="en" sz="1300">
                <a:solidFill>
                  <a:srgbClr val="15172B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Main appeals</a:t>
            </a:r>
            <a:endParaRPr sz="11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7FB"/>
        </a:solidFill>
      </p:bgPr>
    </p:bg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5"/>
          <p:cNvSpPr/>
          <p:nvPr/>
        </p:nvSpPr>
        <p:spPr>
          <a:xfrm>
            <a:off x="457200" y="271463"/>
            <a:ext cx="5857800" cy="18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6252CC"/>
              </a:buClr>
              <a:buSzPts val="800"/>
              <a:buFont typeface="Helvetica Neue"/>
              <a:buNone/>
            </a:pPr>
            <a:r>
              <a:rPr b="1" i="0" lang="en" sz="800">
                <a:solidFill>
                  <a:srgbClr val="6252CC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THE GAP</a:t>
            </a:r>
            <a:endParaRPr sz="1100"/>
          </a:p>
        </p:txBody>
      </p:sp>
      <p:sp>
        <p:nvSpPr>
          <p:cNvPr id="45" name="Google Shape;45;p5"/>
          <p:cNvSpPr/>
          <p:nvPr/>
        </p:nvSpPr>
        <p:spPr>
          <a:xfrm>
            <a:off x="457200" y="500063"/>
            <a:ext cx="8001000" cy="4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5172B"/>
              </a:buClr>
              <a:buSzPts val="2100"/>
              <a:buFont typeface="Helvetica Neue"/>
              <a:buNone/>
            </a:pPr>
            <a:r>
              <a:rPr b="1" i="0" lang="en" sz="2100">
                <a:solidFill>
                  <a:srgbClr val="15172B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 plausible critique can be wrong in two different ways</a:t>
            </a:r>
            <a:endParaRPr sz="1100"/>
          </a:p>
        </p:txBody>
      </p:sp>
      <p:sp>
        <p:nvSpPr>
          <p:cNvPr id="46" name="Google Shape;46;p5"/>
          <p:cNvSpPr/>
          <p:nvPr/>
        </p:nvSpPr>
        <p:spPr>
          <a:xfrm>
            <a:off x="457200" y="1000125"/>
            <a:ext cx="8001000" cy="3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667085"/>
              </a:buClr>
              <a:buSzPts val="1100"/>
              <a:buFont typeface="Helvetica Neue"/>
              <a:buNone/>
            </a:pPr>
            <a:r>
              <a:rPr b="0" i="0" lang="en" sz="1100">
                <a:solidFill>
                  <a:srgbClr val="667085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Truth and relevance are separate checks. Fluent wording does not establish either one.</a:t>
            </a:r>
            <a:endParaRPr sz="1100"/>
          </a:p>
        </p:txBody>
      </p:sp>
      <p:grpSp>
        <p:nvGrpSpPr>
          <p:cNvPr id="47" name="Google Shape;47;p5"/>
          <p:cNvGrpSpPr/>
          <p:nvPr/>
        </p:nvGrpSpPr>
        <p:grpSpPr>
          <a:xfrm>
            <a:off x="457200" y="1225700"/>
            <a:ext cx="1238400" cy="214200"/>
            <a:chOff x="0" y="0"/>
            <a:chExt cx="1238400" cy="214200"/>
          </a:xfrm>
        </p:grpSpPr>
        <p:sp>
          <p:nvSpPr>
            <p:cNvPr id="48" name="Google Shape;48;p5"/>
            <p:cNvSpPr/>
            <p:nvPr/>
          </p:nvSpPr>
          <p:spPr>
            <a:xfrm>
              <a:off x="0" y="0"/>
              <a:ext cx="1238400" cy="214200"/>
            </a:xfrm>
            <a:prstGeom prst="roundRect">
              <a:avLst>
                <a:gd fmla="val 50000" name="adj"/>
              </a:avLst>
            </a:prstGeom>
            <a:solidFill>
              <a:srgbClr val="FDEBE9"/>
            </a:solidFill>
            <a:ln cap="flat" cmpd="sng" w="9525">
              <a:solidFill>
                <a:srgbClr val="FDEBE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" name="Google Shape;49;p5"/>
            <p:cNvSpPr txBox="1"/>
            <p:nvPr/>
          </p:nvSpPr>
          <p:spPr>
            <a:xfrm>
              <a:off x="0" y="0"/>
              <a:ext cx="1238400" cy="214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700">
                  <a:solidFill>
                    <a:srgbClr val="D85B5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FALSE ACCUSATION</a:t>
              </a:r>
              <a:endParaRPr b="1" sz="700">
                <a:solidFill>
                  <a:srgbClr val="D85B5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</p:grpSp>
      <p:sp>
        <p:nvSpPr>
          <p:cNvPr id="50" name="Google Shape;50;p5"/>
          <p:cNvSpPr/>
          <p:nvPr/>
        </p:nvSpPr>
        <p:spPr>
          <a:xfrm>
            <a:off x="8343900" y="4922044"/>
            <a:ext cx="342900" cy="14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6252CC"/>
              </a:buClr>
              <a:buSzPts val="700"/>
              <a:buFont typeface="Helvetica Neue"/>
              <a:buNone/>
            </a:pPr>
            <a:r>
              <a:rPr b="1" i="0" lang="en" sz="700">
                <a:solidFill>
                  <a:srgbClr val="6252CC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02</a:t>
            </a:r>
            <a:endParaRPr sz="1100"/>
          </a:p>
        </p:txBody>
      </p:sp>
      <p:grpSp>
        <p:nvGrpSpPr>
          <p:cNvPr id="51" name="Google Shape;51;p5"/>
          <p:cNvGrpSpPr/>
          <p:nvPr/>
        </p:nvGrpSpPr>
        <p:grpSpPr>
          <a:xfrm>
            <a:off x="4914900" y="1225700"/>
            <a:ext cx="1428900" cy="214200"/>
            <a:chOff x="0" y="0"/>
            <a:chExt cx="1428900" cy="214200"/>
          </a:xfrm>
        </p:grpSpPr>
        <p:sp>
          <p:nvSpPr>
            <p:cNvPr id="52" name="Google Shape;52;p5"/>
            <p:cNvSpPr/>
            <p:nvPr/>
          </p:nvSpPr>
          <p:spPr>
            <a:xfrm>
              <a:off x="0" y="0"/>
              <a:ext cx="1428900" cy="214200"/>
            </a:xfrm>
            <a:prstGeom prst="roundRect">
              <a:avLst>
                <a:gd fmla="val 50000" name="adj"/>
              </a:avLst>
            </a:prstGeom>
            <a:solidFill>
              <a:srgbClr val="FFF2D8"/>
            </a:solidFill>
            <a:ln cap="flat" cmpd="sng" w="9525">
              <a:solidFill>
                <a:srgbClr val="FFF2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" name="Google Shape;53;p5"/>
            <p:cNvSpPr txBox="1"/>
            <p:nvPr/>
          </p:nvSpPr>
          <p:spPr>
            <a:xfrm>
              <a:off x="0" y="0"/>
              <a:ext cx="1428900" cy="214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700">
                  <a:solidFill>
                    <a:srgbClr val="B77718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IMPORTANCE INFLATION</a:t>
              </a:r>
              <a:endParaRPr b="1" sz="700">
                <a:solidFill>
                  <a:srgbClr val="B77718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</p:grpSp>
      <p:cxnSp>
        <p:nvCxnSpPr>
          <p:cNvPr id="54" name="Google Shape;54;p5"/>
          <p:cNvCxnSpPr/>
          <p:nvPr/>
        </p:nvCxnSpPr>
        <p:spPr>
          <a:xfrm>
            <a:off x="4500563" y="1225700"/>
            <a:ext cx="0" cy="2603400"/>
          </a:xfrm>
          <a:prstGeom prst="straightConnector1">
            <a:avLst/>
          </a:prstGeom>
          <a:solidFill>
            <a:srgbClr val="FFFFFF"/>
          </a:solidFill>
          <a:ln cap="flat" cmpd="sng" w="9525">
            <a:solidFill>
              <a:srgbClr val="D9DCE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5" name="Google Shape;55;p5"/>
          <p:cNvSpPr txBox="1"/>
          <p:nvPr/>
        </p:nvSpPr>
        <p:spPr>
          <a:xfrm>
            <a:off x="457200" y="1578125"/>
            <a:ext cx="3619500" cy="276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rgbClr val="6252CC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What it is</a:t>
            </a:r>
            <a:endParaRPr b="1" sz="1000">
              <a:solidFill>
                <a:srgbClr val="6252CC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lang="en" sz="1000">
                <a:solidFill>
                  <a:srgbClr val="667085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Produces comments that are factually wrong</a:t>
            </a:r>
            <a:endParaRPr b="0" sz="1000">
              <a:solidFill>
                <a:srgbClr val="667085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l">
              <a:spcBef>
                <a:spcPts val="150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rgbClr val="6252CC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What it looks like</a:t>
            </a:r>
            <a:endParaRPr b="1" sz="1000">
              <a:solidFill>
                <a:srgbClr val="6252CC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lang="en" sz="1000">
                <a:solidFill>
                  <a:srgbClr val="667085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Comments that certain contents are missing, but it actually exists</a:t>
            </a:r>
            <a:endParaRPr b="0" sz="1000">
              <a:solidFill>
                <a:srgbClr val="667085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l">
              <a:spcBef>
                <a:spcPts val="150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rgbClr val="6252CC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Why it happens</a:t>
            </a:r>
            <a:endParaRPr b="1" sz="1000">
              <a:solidFill>
                <a:srgbClr val="6252CC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lang="en" sz="1000">
                <a:solidFill>
                  <a:srgbClr val="667085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AI reviewers do not have a book of evidence to ground its judgements</a:t>
            </a:r>
            <a:endParaRPr b="0" sz="1000">
              <a:solidFill>
                <a:srgbClr val="667085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56" name="Google Shape;56;p5"/>
          <p:cNvSpPr txBox="1"/>
          <p:nvPr/>
        </p:nvSpPr>
        <p:spPr>
          <a:xfrm>
            <a:off x="4914900" y="1578125"/>
            <a:ext cx="3619500" cy="276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rgbClr val="6252CC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What it is</a:t>
            </a:r>
            <a:endParaRPr b="1" sz="1000">
              <a:solidFill>
                <a:srgbClr val="6252CC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lang="en" sz="1000">
                <a:solidFill>
                  <a:srgbClr val="667085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Produces comments that are true but overclaims its relevance</a:t>
            </a:r>
            <a:endParaRPr b="0" sz="1000">
              <a:solidFill>
                <a:srgbClr val="667085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l">
              <a:spcBef>
                <a:spcPts val="150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rgbClr val="6252CC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What it looks like</a:t>
            </a:r>
            <a:endParaRPr b="1" sz="1000">
              <a:solidFill>
                <a:srgbClr val="6252CC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lang="en" sz="1000">
                <a:solidFill>
                  <a:srgbClr val="667085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Comments that a missing experiment might drastically change the paper’s claim, while in fact there is already sufficient evidence and the claim cannot be easily overturned</a:t>
            </a:r>
            <a:endParaRPr b="0" sz="1000">
              <a:solidFill>
                <a:srgbClr val="667085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l">
              <a:spcBef>
                <a:spcPts val="150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rgbClr val="6252CC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Why it happens</a:t>
            </a:r>
            <a:endParaRPr b="1" sz="1000">
              <a:solidFill>
                <a:srgbClr val="6252CC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lang="en" sz="1000">
                <a:solidFill>
                  <a:srgbClr val="667085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AI reviewers do not have access to the counterfactual scenario to determine the actual impact. The </a:t>
            </a:r>
            <a:r>
              <a:rPr lang="en" sz="1000">
                <a:solidFill>
                  <a:srgbClr val="667085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generated review is highly stochastic</a:t>
            </a:r>
            <a:endParaRPr b="0" sz="1000">
              <a:solidFill>
                <a:srgbClr val="667085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57" name="Google Shape;57;p5"/>
          <p:cNvSpPr/>
          <p:nvPr/>
        </p:nvSpPr>
        <p:spPr>
          <a:xfrm>
            <a:off x="517950" y="4019525"/>
            <a:ext cx="3839700" cy="2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5172B"/>
              </a:buClr>
              <a:buSzPts val="1400"/>
              <a:buFont typeface="Helvetica Neue"/>
              <a:buNone/>
            </a:pPr>
            <a:r>
              <a:rPr b="1" i="0" lang="en" sz="1400">
                <a:solidFill>
                  <a:srgbClr val="15172B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Why an agentic network </a:t>
            </a:r>
            <a:r>
              <a:rPr b="1" lang="en">
                <a:solidFill>
                  <a:srgbClr val="15172B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solves the problem</a:t>
            </a:r>
            <a:endParaRPr sz="1100"/>
          </a:p>
        </p:txBody>
      </p:sp>
      <p:sp>
        <p:nvSpPr>
          <p:cNvPr id="58" name="Google Shape;58;p5"/>
          <p:cNvSpPr/>
          <p:nvPr/>
        </p:nvSpPr>
        <p:spPr>
          <a:xfrm>
            <a:off x="517950" y="4476713"/>
            <a:ext cx="57000" cy="57000"/>
          </a:xfrm>
          <a:prstGeom prst="ellipse">
            <a:avLst/>
          </a:prstGeom>
          <a:solidFill>
            <a:srgbClr val="6252CC"/>
          </a:solidFill>
          <a:ln cap="flat" cmpd="sng" w="9525">
            <a:solidFill>
              <a:srgbClr val="6252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" name="Google Shape;59;p5"/>
          <p:cNvSpPr/>
          <p:nvPr/>
        </p:nvSpPr>
        <p:spPr>
          <a:xfrm>
            <a:off x="660825" y="4419563"/>
            <a:ext cx="2393100" cy="3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667085"/>
              </a:buClr>
              <a:buSzPts val="800"/>
              <a:buFont typeface="Helvetica Neue"/>
              <a:buNone/>
            </a:pPr>
            <a:r>
              <a:rPr b="0" i="0" lang="en" sz="900">
                <a:solidFill>
                  <a:srgbClr val="667085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Critiques differ: theory, experiments, source tracing and arithmetic require different specialist contracts.</a:t>
            </a:r>
            <a:endParaRPr sz="1200"/>
          </a:p>
        </p:txBody>
      </p:sp>
      <p:sp>
        <p:nvSpPr>
          <p:cNvPr id="60" name="Google Shape;60;p5"/>
          <p:cNvSpPr/>
          <p:nvPr/>
        </p:nvSpPr>
        <p:spPr>
          <a:xfrm>
            <a:off x="3304013" y="4476713"/>
            <a:ext cx="57000" cy="57000"/>
          </a:xfrm>
          <a:prstGeom prst="ellipse">
            <a:avLst/>
          </a:prstGeom>
          <a:solidFill>
            <a:srgbClr val="3578B8"/>
          </a:solidFill>
          <a:ln cap="flat" cmpd="sng" w="9525">
            <a:solidFill>
              <a:srgbClr val="3578B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" name="Google Shape;61;p5"/>
          <p:cNvSpPr/>
          <p:nvPr/>
        </p:nvSpPr>
        <p:spPr>
          <a:xfrm>
            <a:off x="3446888" y="4419563"/>
            <a:ext cx="2393100" cy="3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667085"/>
              </a:buClr>
              <a:buSzPts val="700"/>
              <a:buFont typeface="Helvetica Neue"/>
              <a:buNone/>
            </a:pPr>
            <a:r>
              <a:rPr b="0" i="0" lang="en" sz="800">
                <a:solidFill>
                  <a:srgbClr val="667085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 shared ledger exposes disagreement, counter-evidence and missing support instead of hiding them in one long answer.</a:t>
            </a:r>
            <a:endParaRPr sz="1200"/>
          </a:p>
        </p:txBody>
      </p:sp>
      <p:sp>
        <p:nvSpPr>
          <p:cNvPr id="62" name="Google Shape;62;p5"/>
          <p:cNvSpPr/>
          <p:nvPr/>
        </p:nvSpPr>
        <p:spPr>
          <a:xfrm>
            <a:off x="6090075" y="4476713"/>
            <a:ext cx="57000" cy="57000"/>
          </a:xfrm>
          <a:prstGeom prst="ellipse">
            <a:avLst/>
          </a:prstGeom>
          <a:solidFill>
            <a:srgbClr val="2F9E75"/>
          </a:solidFill>
          <a:ln cap="flat" cmpd="sng" w="9525">
            <a:solidFill>
              <a:srgbClr val="2F9E7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" name="Google Shape;63;p5"/>
          <p:cNvSpPr/>
          <p:nvPr/>
        </p:nvSpPr>
        <p:spPr>
          <a:xfrm>
            <a:off x="6232950" y="4419563"/>
            <a:ext cx="2393100" cy="3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667085"/>
              </a:buClr>
              <a:buSzPts val="600"/>
              <a:buFont typeface="Helvetica Neue"/>
              <a:buNone/>
            </a:pPr>
            <a:r>
              <a:rPr b="0" i="0" lang="en" sz="700">
                <a:solidFill>
                  <a:srgbClr val="667085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The workflow must branch, stop or abstain when evidence is missing. A fixed prompt chain cannot represent that boundary cleanly.</a:t>
            </a:r>
            <a:endParaRPr sz="12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7FB"/>
        </a:solidFill>
      </p:bgPr>
    </p:bg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6"/>
          <p:cNvSpPr/>
          <p:nvPr/>
        </p:nvSpPr>
        <p:spPr>
          <a:xfrm>
            <a:off x="457200" y="271463"/>
            <a:ext cx="5857875" cy="18573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6252CC"/>
              </a:buClr>
              <a:buSzPts val="800"/>
              <a:buFont typeface="Helvetica Neue"/>
              <a:buNone/>
            </a:pPr>
            <a:r>
              <a:rPr b="1" i="0" lang="en" sz="800">
                <a:solidFill>
                  <a:srgbClr val="6252CC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ARCHITECTURE</a:t>
            </a:r>
            <a:endParaRPr sz="1100"/>
          </a:p>
        </p:txBody>
      </p:sp>
      <p:sp>
        <p:nvSpPr>
          <p:cNvPr id="70" name="Google Shape;70;p6"/>
          <p:cNvSpPr/>
          <p:nvPr/>
        </p:nvSpPr>
        <p:spPr>
          <a:xfrm>
            <a:off x="457200" y="500063"/>
            <a:ext cx="8001000" cy="4714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5172B"/>
              </a:buClr>
              <a:buSzPts val="2100"/>
              <a:buFont typeface="Helvetica Neue"/>
              <a:buNone/>
            </a:pPr>
            <a:r>
              <a:rPr b="1" lang="en" sz="2100">
                <a:solidFill>
                  <a:srgbClr val="15172B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PeerMind uses 3 stages to produce a trustworthy review</a:t>
            </a:r>
            <a:endParaRPr sz="1100"/>
          </a:p>
        </p:txBody>
      </p:sp>
      <p:sp>
        <p:nvSpPr>
          <p:cNvPr id="71" name="Google Shape;71;p6"/>
          <p:cNvSpPr/>
          <p:nvPr/>
        </p:nvSpPr>
        <p:spPr>
          <a:xfrm>
            <a:off x="457200" y="1427538"/>
            <a:ext cx="2357400" cy="1257300"/>
          </a:xfrm>
          <a:prstGeom prst="roundRect">
            <a:avLst>
              <a:gd fmla="val 7955" name="adj"/>
            </a:avLst>
          </a:prstGeom>
          <a:solidFill>
            <a:srgbClr val="EAE6FF"/>
          </a:solidFill>
          <a:ln cap="flat" cmpd="sng" w="14275">
            <a:solidFill>
              <a:srgbClr val="6252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6"/>
          <p:cNvSpPr/>
          <p:nvPr/>
        </p:nvSpPr>
        <p:spPr>
          <a:xfrm>
            <a:off x="571500" y="1527550"/>
            <a:ext cx="2128800" cy="21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6252CC"/>
              </a:buClr>
              <a:buSzPts val="1200"/>
              <a:buFont typeface="Helvetica Neue"/>
              <a:buNone/>
            </a:pPr>
            <a:r>
              <a:rPr b="1" i="0" lang="en" sz="1200">
                <a:solidFill>
                  <a:srgbClr val="6252CC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 · MAS reviewer</a:t>
            </a:r>
            <a:endParaRPr sz="1100"/>
          </a:p>
        </p:txBody>
      </p:sp>
      <p:sp>
        <p:nvSpPr>
          <p:cNvPr id="73" name="Google Shape;73;p6"/>
          <p:cNvSpPr/>
          <p:nvPr/>
        </p:nvSpPr>
        <p:spPr>
          <a:xfrm>
            <a:off x="571500" y="1763294"/>
            <a:ext cx="21288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667085"/>
              </a:buClr>
              <a:buSzPts val="1000"/>
              <a:buFont typeface="Helvetica Neue"/>
              <a:buNone/>
            </a:pPr>
            <a:r>
              <a:rPr b="0" i="0" lang="en" sz="1000">
                <a:solidFill>
                  <a:srgbClr val="667085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Paper graph</a:t>
            </a:r>
            <a:endParaRPr sz="1100"/>
          </a:p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667085"/>
              </a:buClr>
              <a:buSzPts val="1000"/>
              <a:buFont typeface="Helvetica Neue"/>
              <a:buNone/>
            </a:pPr>
            <a:r>
              <a:rPr b="0" i="0" lang="en" sz="1000">
                <a:solidFill>
                  <a:srgbClr val="667085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Dynamic specialist routing</a:t>
            </a:r>
            <a:endParaRPr sz="1100"/>
          </a:p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667085"/>
              </a:buClr>
              <a:buSzPts val="1000"/>
              <a:buFont typeface="Helvetica Neue"/>
              <a:buNone/>
            </a:pPr>
            <a:r>
              <a:rPr b="0" i="0" lang="en" sz="1000">
                <a:solidFill>
                  <a:srgbClr val="667085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Candidate critiques</a:t>
            </a:r>
            <a:endParaRPr sz="1100"/>
          </a:p>
        </p:txBody>
      </p:sp>
      <p:cxnSp>
        <p:nvCxnSpPr>
          <p:cNvPr id="74" name="Google Shape;74;p6"/>
          <p:cNvCxnSpPr/>
          <p:nvPr/>
        </p:nvCxnSpPr>
        <p:spPr>
          <a:xfrm>
            <a:off x="600075" y="2270500"/>
            <a:ext cx="2071800" cy="0"/>
          </a:xfrm>
          <a:prstGeom prst="straightConnector1">
            <a:avLst/>
          </a:prstGeom>
          <a:noFill/>
          <a:ln cap="flat" cmpd="sng" w="9525">
            <a:solidFill>
              <a:srgbClr val="6252C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5" name="Google Shape;75;p6"/>
          <p:cNvSpPr/>
          <p:nvPr/>
        </p:nvSpPr>
        <p:spPr>
          <a:xfrm>
            <a:off x="600075" y="2341938"/>
            <a:ext cx="2071800" cy="32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  <a:buClr>
                <a:srgbClr val="15172B"/>
              </a:buClr>
              <a:buSzPts val="700"/>
              <a:buFont typeface="Helvetica Neue"/>
              <a:buNone/>
            </a:pPr>
            <a:r>
              <a:rPr b="1" i="0" lang="en" sz="700">
                <a:solidFill>
                  <a:srgbClr val="15172B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OUTPUT</a:t>
            </a:r>
            <a:endParaRPr sz="1100"/>
          </a:p>
          <a:p>
            <a:pPr indent="0" lvl="0" marL="0" marR="0" rtl="0"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  <a:buClr>
                <a:srgbClr val="15172B"/>
              </a:buClr>
              <a:buSzPts val="700"/>
              <a:buFont typeface="Helvetica Neue"/>
              <a:buNone/>
            </a:pPr>
            <a:r>
              <a:rPr b="1" i="0" lang="en" sz="700">
                <a:solidFill>
                  <a:srgbClr val="15172B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Claim + scope + falsifier</a:t>
            </a:r>
            <a:endParaRPr sz="1100"/>
          </a:p>
        </p:txBody>
      </p:sp>
      <p:sp>
        <p:nvSpPr>
          <p:cNvPr id="76" name="Google Shape;76;p6"/>
          <p:cNvSpPr/>
          <p:nvPr/>
        </p:nvSpPr>
        <p:spPr>
          <a:xfrm>
            <a:off x="3214688" y="1427538"/>
            <a:ext cx="2571900" cy="1257300"/>
          </a:xfrm>
          <a:prstGeom prst="roundRect">
            <a:avLst>
              <a:gd fmla="val 7955" name="adj"/>
            </a:avLst>
          </a:prstGeom>
          <a:solidFill>
            <a:srgbClr val="E7F6EF"/>
          </a:solidFill>
          <a:ln cap="flat" cmpd="sng" w="14275">
            <a:solidFill>
              <a:srgbClr val="2F9E7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" name="Google Shape;77;p6"/>
          <p:cNvSpPr/>
          <p:nvPr/>
        </p:nvSpPr>
        <p:spPr>
          <a:xfrm>
            <a:off x="3328988" y="1527550"/>
            <a:ext cx="2343300" cy="21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2F9E75"/>
              </a:buClr>
              <a:buSzPts val="1100"/>
              <a:buFont typeface="Helvetica Neue"/>
              <a:buNone/>
            </a:pPr>
            <a:r>
              <a:rPr b="1" i="0" lang="en" sz="1100">
                <a:solidFill>
                  <a:srgbClr val="2F9E75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2 · Evidence-based MAS defender</a:t>
            </a:r>
            <a:endParaRPr sz="1100"/>
          </a:p>
        </p:txBody>
      </p:sp>
      <p:sp>
        <p:nvSpPr>
          <p:cNvPr id="78" name="Google Shape;78;p6"/>
          <p:cNvSpPr/>
          <p:nvPr/>
        </p:nvSpPr>
        <p:spPr>
          <a:xfrm>
            <a:off x="3328988" y="1763294"/>
            <a:ext cx="23433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667085"/>
              </a:buClr>
              <a:buSzPts val="1000"/>
              <a:buFont typeface="Helvetica Neue"/>
              <a:buNone/>
            </a:pPr>
            <a:r>
              <a:rPr b="0" i="0" lang="en" sz="1000">
                <a:solidFill>
                  <a:srgbClr val="667085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Interpretation and evidence plan</a:t>
            </a:r>
            <a:endParaRPr sz="1100"/>
          </a:p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667085"/>
              </a:buClr>
              <a:buSzPts val="1000"/>
              <a:buFont typeface="Helvetica Neue"/>
              <a:buNone/>
            </a:pPr>
            <a:r>
              <a:rPr b="0" i="0" lang="en" sz="1000">
                <a:solidFill>
                  <a:srgbClr val="667085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Specialist checks</a:t>
            </a:r>
            <a:endParaRPr sz="1100"/>
          </a:p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667085"/>
              </a:buClr>
              <a:buSzPts val="1000"/>
              <a:buFont typeface="Helvetica Neue"/>
              <a:buNone/>
            </a:pPr>
            <a:r>
              <a:rPr b="0" i="0" lang="en" sz="1000">
                <a:solidFill>
                  <a:srgbClr val="667085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Evidence ledger</a:t>
            </a:r>
            <a:endParaRPr sz="1100"/>
          </a:p>
        </p:txBody>
      </p:sp>
      <p:cxnSp>
        <p:nvCxnSpPr>
          <p:cNvPr id="79" name="Google Shape;79;p6"/>
          <p:cNvCxnSpPr/>
          <p:nvPr/>
        </p:nvCxnSpPr>
        <p:spPr>
          <a:xfrm>
            <a:off x="3357563" y="2270500"/>
            <a:ext cx="2286000" cy="0"/>
          </a:xfrm>
          <a:prstGeom prst="straightConnector1">
            <a:avLst/>
          </a:prstGeom>
          <a:noFill/>
          <a:ln cap="flat" cmpd="sng" w="9525">
            <a:solidFill>
              <a:srgbClr val="2F9E75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0" name="Google Shape;80;p6"/>
          <p:cNvSpPr/>
          <p:nvPr/>
        </p:nvSpPr>
        <p:spPr>
          <a:xfrm>
            <a:off x="3357563" y="2341938"/>
            <a:ext cx="2286000" cy="32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  <a:buClr>
                <a:srgbClr val="15172B"/>
              </a:buClr>
              <a:buSzPts val="700"/>
              <a:buFont typeface="Helvetica Neue"/>
              <a:buNone/>
            </a:pPr>
            <a:r>
              <a:rPr b="1" i="0" lang="en" sz="700">
                <a:solidFill>
                  <a:srgbClr val="15172B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OUTPUT</a:t>
            </a:r>
            <a:endParaRPr sz="1100"/>
          </a:p>
          <a:p>
            <a:pPr indent="0" lvl="0" marL="0" marR="0" rtl="0"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  <a:buClr>
                <a:srgbClr val="15172B"/>
              </a:buClr>
              <a:buSzPts val="700"/>
              <a:buFont typeface="Helvetica Neue"/>
              <a:buNone/>
            </a:pPr>
            <a:r>
              <a:rPr b="1" i="0" lang="en" sz="700">
                <a:solidFill>
                  <a:srgbClr val="15172B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Evidence for/against + provenance</a:t>
            </a:r>
            <a:endParaRPr sz="1100"/>
          </a:p>
        </p:txBody>
      </p:sp>
      <p:sp>
        <p:nvSpPr>
          <p:cNvPr id="81" name="Google Shape;81;p6"/>
          <p:cNvSpPr/>
          <p:nvPr/>
        </p:nvSpPr>
        <p:spPr>
          <a:xfrm>
            <a:off x="6057900" y="1427538"/>
            <a:ext cx="2571900" cy="1257300"/>
          </a:xfrm>
          <a:prstGeom prst="roundRect">
            <a:avLst>
              <a:gd fmla="val 7955" name="adj"/>
            </a:avLst>
          </a:prstGeom>
          <a:solidFill>
            <a:srgbClr val="E9F2FB"/>
          </a:solidFill>
          <a:ln cap="flat" cmpd="sng" w="14275">
            <a:solidFill>
              <a:srgbClr val="3578B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6"/>
          <p:cNvSpPr/>
          <p:nvPr/>
        </p:nvSpPr>
        <p:spPr>
          <a:xfrm>
            <a:off x="6172200" y="1527550"/>
            <a:ext cx="2343300" cy="21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3578B8"/>
              </a:buClr>
              <a:buSzPts val="1200"/>
              <a:buFont typeface="Helvetica Neue"/>
              <a:buNone/>
            </a:pPr>
            <a:r>
              <a:rPr b="1" i="0" lang="en" sz="1200">
                <a:solidFill>
                  <a:srgbClr val="3578B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3 · Counterfactual defender</a:t>
            </a:r>
            <a:endParaRPr sz="1100"/>
          </a:p>
        </p:txBody>
      </p:sp>
      <p:sp>
        <p:nvSpPr>
          <p:cNvPr id="83" name="Google Shape;83;p6"/>
          <p:cNvSpPr/>
          <p:nvPr/>
        </p:nvSpPr>
        <p:spPr>
          <a:xfrm>
            <a:off x="6172200" y="1763294"/>
            <a:ext cx="23433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667085"/>
              </a:buClr>
              <a:buSzPts val="1000"/>
              <a:buFont typeface="Helvetica Neue"/>
              <a:buNone/>
            </a:pPr>
            <a:r>
              <a:rPr b="0" i="0" lang="en" sz="1000">
                <a:solidFill>
                  <a:srgbClr val="667085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Baseline and matched variants</a:t>
            </a:r>
            <a:endParaRPr sz="1100"/>
          </a:p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667085"/>
              </a:buClr>
              <a:buSzPts val="1000"/>
              <a:buFont typeface="Helvetica Neue"/>
              <a:buNone/>
            </a:pPr>
            <a:r>
              <a:rPr b="0" i="0" lang="en" sz="1000">
                <a:solidFill>
                  <a:srgbClr val="667085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Specificity check</a:t>
            </a:r>
            <a:endParaRPr sz="1100"/>
          </a:p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667085"/>
              </a:buClr>
              <a:buSzPts val="1000"/>
              <a:buFont typeface="Helvetica Neue"/>
              <a:buNone/>
            </a:pPr>
            <a:r>
              <a:rPr b="0" i="0" lang="en" sz="1000">
                <a:solidFill>
                  <a:srgbClr val="667085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Bounded verdict</a:t>
            </a:r>
            <a:endParaRPr sz="1100"/>
          </a:p>
        </p:txBody>
      </p:sp>
      <p:cxnSp>
        <p:nvCxnSpPr>
          <p:cNvPr id="84" name="Google Shape;84;p6"/>
          <p:cNvCxnSpPr/>
          <p:nvPr/>
        </p:nvCxnSpPr>
        <p:spPr>
          <a:xfrm>
            <a:off x="6200775" y="2270500"/>
            <a:ext cx="2286000" cy="0"/>
          </a:xfrm>
          <a:prstGeom prst="straightConnector1">
            <a:avLst/>
          </a:prstGeom>
          <a:noFill/>
          <a:ln cap="flat" cmpd="sng" w="9525">
            <a:solidFill>
              <a:srgbClr val="3578B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5" name="Google Shape;85;p6"/>
          <p:cNvSpPr/>
          <p:nvPr/>
        </p:nvSpPr>
        <p:spPr>
          <a:xfrm>
            <a:off x="6200775" y="2341938"/>
            <a:ext cx="2286000" cy="32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  <a:buClr>
                <a:srgbClr val="15172B"/>
              </a:buClr>
              <a:buSzPts val="700"/>
              <a:buFont typeface="Helvetica Neue"/>
              <a:buNone/>
            </a:pPr>
            <a:r>
              <a:rPr b="1" i="0" lang="en" sz="700">
                <a:solidFill>
                  <a:srgbClr val="15172B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OUTPUT</a:t>
            </a:r>
            <a:endParaRPr sz="1100"/>
          </a:p>
          <a:p>
            <a:pPr indent="0" lvl="0" marL="0" marR="0" rtl="0"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  <a:buClr>
                <a:srgbClr val="15172B"/>
              </a:buClr>
              <a:buSzPts val="700"/>
              <a:buFont typeface="Helvetica Neue"/>
              <a:buNone/>
            </a:pPr>
            <a:r>
              <a:rPr b="1" i="0" lang="en" sz="700">
                <a:solidFill>
                  <a:srgbClr val="15172B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Sensitivity result + final status</a:t>
            </a:r>
            <a:endParaRPr sz="1100"/>
          </a:p>
        </p:txBody>
      </p:sp>
      <p:cxnSp>
        <p:nvCxnSpPr>
          <p:cNvPr id="86" name="Google Shape;86;p6"/>
          <p:cNvCxnSpPr>
            <a:stCxn id="71" idx="3"/>
            <a:endCxn id="76" idx="1"/>
          </p:cNvCxnSpPr>
          <p:nvPr/>
        </p:nvCxnSpPr>
        <p:spPr>
          <a:xfrm>
            <a:off x="2814600" y="2056188"/>
            <a:ext cx="400200" cy="0"/>
          </a:xfrm>
          <a:prstGeom prst="straightConnector1">
            <a:avLst/>
          </a:prstGeom>
          <a:noFill/>
          <a:ln cap="flat" cmpd="sng" w="19050">
            <a:solidFill>
              <a:srgbClr val="6252CC"/>
            </a:solidFill>
            <a:prstDash val="solid"/>
            <a:round/>
            <a:headEnd len="sm" w="sm" type="none"/>
            <a:tailEnd len="sm" w="sm" type="triangle"/>
          </a:ln>
        </p:spPr>
      </p:cxnSp>
      <p:cxnSp>
        <p:nvCxnSpPr>
          <p:cNvPr id="87" name="Google Shape;87;p6"/>
          <p:cNvCxnSpPr>
            <a:stCxn id="76" idx="3"/>
            <a:endCxn id="81" idx="1"/>
          </p:cNvCxnSpPr>
          <p:nvPr/>
        </p:nvCxnSpPr>
        <p:spPr>
          <a:xfrm>
            <a:off x="5786588" y="2056188"/>
            <a:ext cx="271200" cy="0"/>
          </a:xfrm>
          <a:prstGeom prst="straightConnector1">
            <a:avLst/>
          </a:prstGeom>
          <a:noFill/>
          <a:ln cap="flat" cmpd="sng" w="19050">
            <a:solidFill>
              <a:srgbClr val="2F9E75"/>
            </a:solidFill>
            <a:prstDash val="solid"/>
            <a:round/>
            <a:headEnd len="sm" w="sm" type="none"/>
            <a:tailEnd len="sm" w="sm" type="triangle"/>
          </a:ln>
        </p:spPr>
      </p:cxnSp>
      <p:sp>
        <p:nvSpPr>
          <p:cNvPr id="88" name="Google Shape;88;p6"/>
          <p:cNvSpPr/>
          <p:nvPr/>
        </p:nvSpPr>
        <p:spPr>
          <a:xfrm>
            <a:off x="671513" y="3113463"/>
            <a:ext cx="7743900" cy="671400"/>
          </a:xfrm>
          <a:prstGeom prst="roundRect">
            <a:avLst>
              <a:gd fmla="val 14894" name="adj"/>
            </a:avLst>
          </a:prstGeom>
          <a:solidFill>
            <a:srgbClr val="FFFFFF"/>
          </a:solidFill>
          <a:ln cap="flat" cmpd="sng" w="11900">
            <a:solidFill>
              <a:srgbClr val="D9DC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6"/>
          <p:cNvSpPr/>
          <p:nvPr/>
        </p:nvSpPr>
        <p:spPr>
          <a:xfrm>
            <a:off x="842963" y="3263481"/>
            <a:ext cx="1285800" cy="1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6252CC"/>
              </a:buClr>
              <a:buSzPts val="700"/>
              <a:buFont typeface="Helvetica Neue"/>
              <a:buNone/>
            </a:pPr>
            <a:r>
              <a:rPr b="1" i="0" lang="en" sz="700">
                <a:solidFill>
                  <a:srgbClr val="6252CC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EVIDENCE LEDGER</a:t>
            </a:r>
            <a:endParaRPr sz="1100"/>
          </a:p>
        </p:txBody>
      </p:sp>
      <p:sp>
        <p:nvSpPr>
          <p:cNvPr id="90" name="Google Shape;90;p6"/>
          <p:cNvSpPr/>
          <p:nvPr/>
        </p:nvSpPr>
        <p:spPr>
          <a:xfrm>
            <a:off x="842963" y="3484938"/>
            <a:ext cx="1678800" cy="2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5172B"/>
              </a:buClr>
              <a:buSzPts val="1100"/>
              <a:buFont typeface="Helvetica Neue"/>
              <a:buNone/>
            </a:pPr>
            <a:r>
              <a:rPr b="1" i="0" lang="en" sz="1100">
                <a:solidFill>
                  <a:srgbClr val="15172B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One record per finding</a:t>
            </a:r>
            <a:endParaRPr sz="1100"/>
          </a:p>
        </p:txBody>
      </p:sp>
      <p:sp>
        <p:nvSpPr>
          <p:cNvPr id="91" name="Google Shape;91;p6"/>
          <p:cNvSpPr/>
          <p:nvPr/>
        </p:nvSpPr>
        <p:spPr>
          <a:xfrm>
            <a:off x="2571750" y="3213475"/>
            <a:ext cx="1464600" cy="214200"/>
          </a:xfrm>
          <a:prstGeom prst="roundRect">
            <a:avLst>
              <a:gd fmla="val 50000" name="adj"/>
            </a:avLst>
          </a:prstGeom>
          <a:solidFill>
            <a:srgbClr val="EEEAFB"/>
          </a:solidFill>
          <a:ln cap="flat" cmpd="sng" w="9525">
            <a:solidFill>
              <a:srgbClr val="D9DC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4300" lIns="57150" spcFirstLastPara="1" rIns="57150" wrap="square" tIns="28575">
            <a:noAutofit/>
          </a:bodyPr>
          <a:lstStyle/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43349B"/>
              </a:buClr>
              <a:buSzPts val="700"/>
              <a:buFont typeface="Helvetica Neue"/>
              <a:buNone/>
            </a:pPr>
            <a:r>
              <a:rPr b="1" i="0" lang="en" sz="700">
                <a:solidFill>
                  <a:srgbClr val="43349B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allegation</a:t>
            </a:r>
            <a:endParaRPr sz="1100"/>
          </a:p>
        </p:txBody>
      </p:sp>
      <p:sp>
        <p:nvSpPr>
          <p:cNvPr id="92" name="Google Shape;92;p6"/>
          <p:cNvSpPr/>
          <p:nvPr/>
        </p:nvSpPr>
        <p:spPr>
          <a:xfrm>
            <a:off x="4357688" y="3213475"/>
            <a:ext cx="1464600" cy="214200"/>
          </a:xfrm>
          <a:prstGeom prst="roundRect">
            <a:avLst>
              <a:gd fmla="val 50000" name="adj"/>
            </a:avLst>
          </a:prstGeom>
          <a:solidFill>
            <a:srgbClr val="EEEAFB"/>
          </a:solidFill>
          <a:ln cap="flat" cmpd="sng" w="9525">
            <a:solidFill>
              <a:srgbClr val="D9DC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4300" lIns="57150" spcFirstLastPara="1" rIns="57150" wrap="square" tIns="28575">
            <a:noAutofit/>
          </a:bodyPr>
          <a:lstStyle/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43349B"/>
              </a:buClr>
              <a:buSzPts val="700"/>
              <a:buFont typeface="Helvetica Neue"/>
              <a:buNone/>
            </a:pPr>
            <a:r>
              <a:rPr b="1" i="0" lang="en" sz="700">
                <a:solidFill>
                  <a:srgbClr val="43349B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evidence for</a:t>
            </a:r>
            <a:endParaRPr sz="1100"/>
          </a:p>
        </p:txBody>
      </p:sp>
      <p:sp>
        <p:nvSpPr>
          <p:cNvPr id="93" name="Google Shape;93;p6"/>
          <p:cNvSpPr/>
          <p:nvPr/>
        </p:nvSpPr>
        <p:spPr>
          <a:xfrm>
            <a:off x="6143625" y="3213475"/>
            <a:ext cx="1464600" cy="214200"/>
          </a:xfrm>
          <a:prstGeom prst="roundRect">
            <a:avLst>
              <a:gd fmla="val 50000" name="adj"/>
            </a:avLst>
          </a:prstGeom>
          <a:solidFill>
            <a:srgbClr val="EEEAFB"/>
          </a:solidFill>
          <a:ln cap="flat" cmpd="sng" w="9525">
            <a:solidFill>
              <a:srgbClr val="D9DC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4300" lIns="57150" spcFirstLastPara="1" rIns="57150" wrap="square" tIns="28575">
            <a:noAutofit/>
          </a:bodyPr>
          <a:lstStyle/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43349B"/>
              </a:buClr>
              <a:buSzPts val="700"/>
              <a:buFont typeface="Helvetica Neue"/>
              <a:buNone/>
            </a:pPr>
            <a:r>
              <a:rPr b="1" i="0" lang="en" sz="700">
                <a:solidFill>
                  <a:srgbClr val="43349B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counter-evidence</a:t>
            </a:r>
            <a:endParaRPr sz="1100"/>
          </a:p>
        </p:txBody>
      </p:sp>
      <p:sp>
        <p:nvSpPr>
          <p:cNvPr id="94" name="Google Shape;94;p6"/>
          <p:cNvSpPr/>
          <p:nvPr/>
        </p:nvSpPr>
        <p:spPr>
          <a:xfrm>
            <a:off x="2571750" y="3492081"/>
            <a:ext cx="1464600" cy="214200"/>
          </a:xfrm>
          <a:prstGeom prst="roundRect">
            <a:avLst>
              <a:gd fmla="val 50000" name="adj"/>
            </a:avLst>
          </a:prstGeom>
          <a:solidFill>
            <a:srgbClr val="F7F7FB"/>
          </a:solidFill>
          <a:ln cap="flat" cmpd="sng" w="9525">
            <a:solidFill>
              <a:srgbClr val="D9DC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4300" lIns="57150" spcFirstLastPara="1" rIns="57150" wrap="square" tIns="28575">
            <a:noAutofit/>
          </a:bodyPr>
          <a:lstStyle/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667085"/>
              </a:buClr>
              <a:buSzPts val="700"/>
              <a:buFont typeface="Helvetica Neue"/>
              <a:buNone/>
            </a:pPr>
            <a:r>
              <a:rPr b="1" i="0" lang="en" sz="700">
                <a:solidFill>
                  <a:srgbClr val="667085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tool provenance</a:t>
            </a:r>
            <a:endParaRPr sz="1100"/>
          </a:p>
        </p:txBody>
      </p:sp>
      <p:sp>
        <p:nvSpPr>
          <p:cNvPr id="95" name="Google Shape;95;p6"/>
          <p:cNvSpPr/>
          <p:nvPr/>
        </p:nvSpPr>
        <p:spPr>
          <a:xfrm>
            <a:off x="4357688" y="3492081"/>
            <a:ext cx="1464600" cy="214200"/>
          </a:xfrm>
          <a:prstGeom prst="roundRect">
            <a:avLst>
              <a:gd fmla="val 50000" name="adj"/>
            </a:avLst>
          </a:prstGeom>
          <a:solidFill>
            <a:srgbClr val="F7F7FB"/>
          </a:solidFill>
          <a:ln cap="flat" cmpd="sng" w="9525">
            <a:solidFill>
              <a:srgbClr val="D9DC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4300" lIns="57150" spcFirstLastPara="1" rIns="57150" wrap="square" tIns="28575">
            <a:noAutofit/>
          </a:bodyPr>
          <a:lstStyle/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667085"/>
              </a:buClr>
              <a:buSzPts val="700"/>
              <a:buFont typeface="Helvetica Neue"/>
              <a:buNone/>
            </a:pPr>
            <a:r>
              <a:rPr b="1" i="0" lang="en" sz="700">
                <a:solidFill>
                  <a:srgbClr val="667085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status</a:t>
            </a:r>
            <a:endParaRPr sz="1100"/>
          </a:p>
        </p:txBody>
      </p:sp>
      <p:sp>
        <p:nvSpPr>
          <p:cNvPr id="96" name="Google Shape;96;p6"/>
          <p:cNvSpPr/>
          <p:nvPr/>
        </p:nvSpPr>
        <p:spPr>
          <a:xfrm>
            <a:off x="6143625" y="3492081"/>
            <a:ext cx="1464600" cy="214200"/>
          </a:xfrm>
          <a:prstGeom prst="roundRect">
            <a:avLst>
              <a:gd fmla="val 50000" name="adj"/>
            </a:avLst>
          </a:prstGeom>
          <a:solidFill>
            <a:srgbClr val="F7F7FB"/>
          </a:solidFill>
          <a:ln cap="flat" cmpd="sng" w="9525">
            <a:solidFill>
              <a:srgbClr val="D9DC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4300" lIns="57150" spcFirstLastPara="1" rIns="57150" wrap="square" tIns="28575">
            <a:noAutofit/>
          </a:bodyPr>
          <a:lstStyle/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667085"/>
              </a:buClr>
              <a:buSzPts val="700"/>
              <a:buFont typeface="Helvetica Neue"/>
              <a:buNone/>
            </a:pPr>
            <a:r>
              <a:rPr b="1" i="0" lang="en" sz="700">
                <a:solidFill>
                  <a:srgbClr val="667085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limits</a:t>
            </a:r>
            <a:endParaRPr sz="1100"/>
          </a:p>
        </p:txBody>
      </p:sp>
      <p:cxnSp>
        <p:nvCxnSpPr>
          <p:cNvPr id="97" name="Google Shape;97;p6"/>
          <p:cNvCxnSpPr/>
          <p:nvPr/>
        </p:nvCxnSpPr>
        <p:spPr>
          <a:xfrm>
            <a:off x="457200" y="4886325"/>
            <a:ext cx="8229600" cy="0"/>
          </a:xfrm>
          <a:prstGeom prst="straightConnector1">
            <a:avLst/>
          </a:prstGeom>
          <a:noFill/>
          <a:ln cap="flat" cmpd="sng" w="9525">
            <a:solidFill>
              <a:srgbClr val="D9DCE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8" name="Google Shape;98;p6"/>
          <p:cNvSpPr/>
          <p:nvPr/>
        </p:nvSpPr>
        <p:spPr>
          <a:xfrm>
            <a:off x="8343900" y="4922044"/>
            <a:ext cx="342900" cy="142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6252CC"/>
              </a:buClr>
              <a:buSzPts val="700"/>
              <a:buFont typeface="Helvetica Neue"/>
              <a:buNone/>
            </a:pPr>
            <a:r>
              <a:rPr b="1" i="0" lang="en" sz="700">
                <a:solidFill>
                  <a:srgbClr val="6252CC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04</a:t>
            </a:r>
            <a:endParaRPr sz="11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7FB"/>
        </a:solidFill>
      </p:bgPr>
    </p:bg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7"/>
          <p:cNvSpPr/>
          <p:nvPr/>
        </p:nvSpPr>
        <p:spPr>
          <a:xfrm>
            <a:off x="457200" y="271463"/>
            <a:ext cx="5857800" cy="18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6252CC"/>
              </a:buClr>
              <a:buSzPts val="800"/>
              <a:buFont typeface="Helvetica Neue"/>
              <a:buNone/>
            </a:pPr>
            <a:r>
              <a:rPr b="1" i="0" lang="en" sz="800">
                <a:solidFill>
                  <a:srgbClr val="6252CC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MAS REVIEWER</a:t>
            </a:r>
            <a:endParaRPr sz="1100"/>
          </a:p>
        </p:txBody>
      </p:sp>
      <p:sp>
        <p:nvSpPr>
          <p:cNvPr id="105" name="Google Shape;105;p7"/>
          <p:cNvSpPr/>
          <p:nvPr/>
        </p:nvSpPr>
        <p:spPr>
          <a:xfrm>
            <a:off x="457200" y="500063"/>
            <a:ext cx="8001000" cy="4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5172B"/>
              </a:buClr>
              <a:buSzPts val="2100"/>
              <a:buFont typeface="Helvetica Neue"/>
              <a:buNone/>
            </a:pPr>
            <a:r>
              <a:rPr b="1" lang="en" sz="2100">
                <a:solidFill>
                  <a:srgbClr val="15172B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Reviews are grounded on a knowledge graph</a:t>
            </a:r>
            <a:endParaRPr sz="1100"/>
          </a:p>
        </p:txBody>
      </p:sp>
      <p:sp>
        <p:nvSpPr>
          <p:cNvPr id="106" name="Google Shape;106;p7"/>
          <p:cNvSpPr/>
          <p:nvPr/>
        </p:nvSpPr>
        <p:spPr>
          <a:xfrm>
            <a:off x="457200" y="1000125"/>
            <a:ext cx="8001000" cy="3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667085"/>
              </a:buClr>
              <a:buSzPts val="1100"/>
              <a:buFont typeface="Helvetica Neue"/>
              <a:buNone/>
            </a:pPr>
            <a:r>
              <a:rPr b="0" i="0" lang="en" sz="1100">
                <a:solidFill>
                  <a:srgbClr val="667085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The system converts the manuscript into a source-linked graph before reviewer agents generate comments.</a:t>
            </a:r>
            <a:endParaRPr sz="1100"/>
          </a:p>
        </p:txBody>
      </p:sp>
      <p:sp>
        <p:nvSpPr>
          <p:cNvPr id="107" name="Google Shape;107;p7"/>
          <p:cNvSpPr/>
          <p:nvPr/>
        </p:nvSpPr>
        <p:spPr>
          <a:xfrm>
            <a:off x="457200" y="1700213"/>
            <a:ext cx="1243200" cy="1686000"/>
          </a:xfrm>
          <a:prstGeom prst="roundRect">
            <a:avLst>
              <a:gd fmla="val 8046" name="adj"/>
            </a:avLst>
          </a:prstGeom>
          <a:solidFill>
            <a:srgbClr val="FFFFFF"/>
          </a:solidFill>
          <a:ln cap="flat" cmpd="sng" w="10700">
            <a:solidFill>
              <a:srgbClr val="D9DC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7"/>
          <p:cNvSpPr/>
          <p:nvPr/>
        </p:nvSpPr>
        <p:spPr>
          <a:xfrm>
            <a:off x="571500" y="1800225"/>
            <a:ext cx="1014600" cy="2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5172B"/>
              </a:buClr>
              <a:buSzPts val="1000"/>
              <a:buFont typeface="Helvetica Neue"/>
              <a:buNone/>
            </a:pPr>
            <a:r>
              <a:rPr b="1" i="0" lang="en" sz="1000">
                <a:solidFill>
                  <a:srgbClr val="15172B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Manuscript PDF</a:t>
            </a:r>
            <a:endParaRPr sz="1100"/>
          </a:p>
        </p:txBody>
      </p:sp>
      <p:sp>
        <p:nvSpPr>
          <p:cNvPr id="109" name="Google Shape;109;p7"/>
          <p:cNvSpPr/>
          <p:nvPr/>
        </p:nvSpPr>
        <p:spPr>
          <a:xfrm>
            <a:off x="571500" y="2035969"/>
            <a:ext cx="1014600" cy="12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667085"/>
              </a:buClr>
              <a:buSzPts val="900"/>
              <a:buFont typeface="Helvetica Neue"/>
              <a:buNone/>
            </a:pPr>
            <a:r>
              <a:rPr b="0" i="0" lang="en" sz="900">
                <a:solidFill>
                  <a:srgbClr val="667085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Sections</a:t>
            </a:r>
            <a:endParaRPr sz="1100"/>
          </a:p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667085"/>
              </a:buClr>
              <a:buSzPts val="900"/>
              <a:buFont typeface="Helvetica Neue"/>
              <a:buNone/>
            </a:pPr>
            <a:r>
              <a:rPr b="0" i="0" lang="en" sz="900">
                <a:solidFill>
                  <a:srgbClr val="667085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Claims</a:t>
            </a:r>
            <a:endParaRPr sz="1100"/>
          </a:p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667085"/>
              </a:buClr>
              <a:buSzPts val="900"/>
              <a:buFont typeface="Helvetica Neue"/>
              <a:buNone/>
            </a:pPr>
            <a:r>
              <a:rPr b="0" i="0" lang="en" sz="900">
                <a:solidFill>
                  <a:srgbClr val="667085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Methods</a:t>
            </a:r>
            <a:endParaRPr sz="1100"/>
          </a:p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667085"/>
              </a:buClr>
              <a:buSzPts val="900"/>
              <a:buFont typeface="Helvetica Neue"/>
              <a:buNone/>
            </a:pPr>
            <a:r>
              <a:rPr b="0" i="0" lang="en" sz="900">
                <a:solidFill>
                  <a:srgbClr val="667085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Tables and figures</a:t>
            </a:r>
            <a:endParaRPr sz="1100"/>
          </a:p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667085"/>
              </a:buClr>
              <a:buSzPts val="900"/>
              <a:buFont typeface="Helvetica Neue"/>
              <a:buNone/>
            </a:pPr>
            <a:r>
              <a:rPr b="0" i="0" lang="en" sz="900">
                <a:solidFill>
                  <a:srgbClr val="667085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Appendix</a:t>
            </a:r>
            <a:endParaRPr sz="1100"/>
          </a:p>
        </p:txBody>
      </p:sp>
      <p:sp>
        <p:nvSpPr>
          <p:cNvPr id="110" name="Google Shape;110;p7"/>
          <p:cNvSpPr/>
          <p:nvPr/>
        </p:nvSpPr>
        <p:spPr>
          <a:xfrm>
            <a:off x="2043113" y="1443038"/>
            <a:ext cx="3072000" cy="2214600"/>
          </a:xfrm>
          <a:prstGeom prst="roundRect">
            <a:avLst>
              <a:gd fmla="val 4516" name="adj"/>
            </a:avLst>
          </a:prstGeom>
          <a:solidFill>
            <a:srgbClr val="EAE6FF"/>
          </a:solidFill>
          <a:ln cap="flat" cmpd="sng" w="10700">
            <a:solidFill>
              <a:srgbClr val="6252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7"/>
          <p:cNvSpPr/>
          <p:nvPr/>
        </p:nvSpPr>
        <p:spPr>
          <a:xfrm>
            <a:off x="2214563" y="1571625"/>
            <a:ext cx="2571900" cy="1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6252CC"/>
              </a:buClr>
              <a:buSzPts val="700"/>
              <a:buFont typeface="Helvetica Neue"/>
              <a:buNone/>
            </a:pPr>
            <a:r>
              <a:rPr b="1" i="0" lang="en" sz="700">
                <a:solidFill>
                  <a:srgbClr val="6252CC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SOURCE-LINKED KNOWLEDGE GRAPH</a:t>
            </a:r>
            <a:endParaRPr sz="1100"/>
          </a:p>
        </p:txBody>
      </p:sp>
      <p:sp>
        <p:nvSpPr>
          <p:cNvPr id="112" name="Google Shape;112;p7"/>
          <p:cNvSpPr/>
          <p:nvPr/>
        </p:nvSpPr>
        <p:spPr>
          <a:xfrm>
            <a:off x="2214563" y="1800225"/>
            <a:ext cx="2643300" cy="2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5172B"/>
              </a:buClr>
              <a:buSzPts val="1000"/>
              <a:buFont typeface="Helvetica Neue"/>
              <a:buNone/>
            </a:pPr>
            <a:r>
              <a:rPr b="1" i="0" lang="en" sz="1000">
                <a:solidFill>
                  <a:srgbClr val="15172B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Claims become connected evidence records</a:t>
            </a:r>
            <a:endParaRPr sz="1100"/>
          </a:p>
        </p:txBody>
      </p:sp>
      <p:sp>
        <p:nvSpPr>
          <p:cNvPr id="113" name="Google Shape;113;p7"/>
          <p:cNvSpPr/>
          <p:nvPr/>
        </p:nvSpPr>
        <p:spPr>
          <a:xfrm>
            <a:off x="2214563" y="2171700"/>
            <a:ext cx="1171500" cy="471600"/>
          </a:xfrm>
          <a:prstGeom prst="roundRect">
            <a:avLst>
              <a:gd fmla="val 21212" name="adj"/>
            </a:avLst>
          </a:prstGeom>
          <a:solidFill>
            <a:srgbClr val="FFFFFF"/>
          </a:solidFill>
          <a:ln cap="flat" cmpd="sng" w="10700">
            <a:solidFill>
              <a:srgbClr val="6252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7"/>
          <p:cNvSpPr/>
          <p:nvPr/>
        </p:nvSpPr>
        <p:spPr>
          <a:xfrm>
            <a:off x="2328863" y="2271713"/>
            <a:ext cx="942900" cy="2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5172B"/>
              </a:buClr>
              <a:buSzPts val="800"/>
              <a:buFont typeface="Helvetica Neue"/>
              <a:buNone/>
            </a:pPr>
            <a:r>
              <a:rPr b="1" i="0" lang="en" sz="800">
                <a:solidFill>
                  <a:srgbClr val="15172B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Q01 · Question</a:t>
            </a:r>
            <a:endParaRPr sz="1100"/>
          </a:p>
        </p:txBody>
      </p:sp>
      <p:sp>
        <p:nvSpPr>
          <p:cNvPr id="115" name="Google Shape;115;p7"/>
          <p:cNvSpPr/>
          <p:nvPr/>
        </p:nvSpPr>
        <p:spPr>
          <a:xfrm>
            <a:off x="2328863" y="2507456"/>
            <a:ext cx="942900" cy="7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667085"/>
              </a:buClr>
              <a:buSzPts val="400"/>
              <a:buFont typeface="Helvetica Neue"/>
              <a:buNone/>
            </a:pPr>
            <a:r>
              <a:rPr b="0" i="0" lang="en" sz="400">
                <a:solidFill>
                  <a:srgbClr val="667085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Introduction · p.1</a:t>
            </a:r>
            <a:endParaRPr sz="1100"/>
          </a:p>
        </p:txBody>
      </p:sp>
      <p:sp>
        <p:nvSpPr>
          <p:cNvPr id="116" name="Google Shape;116;p7"/>
          <p:cNvSpPr/>
          <p:nvPr/>
        </p:nvSpPr>
        <p:spPr>
          <a:xfrm>
            <a:off x="3671888" y="2171700"/>
            <a:ext cx="1171500" cy="471600"/>
          </a:xfrm>
          <a:prstGeom prst="roundRect">
            <a:avLst>
              <a:gd fmla="val 21212" name="adj"/>
            </a:avLst>
          </a:prstGeom>
          <a:solidFill>
            <a:srgbClr val="FFFFFF"/>
          </a:solidFill>
          <a:ln cap="flat" cmpd="sng" w="10700">
            <a:solidFill>
              <a:srgbClr val="3578B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7"/>
          <p:cNvSpPr/>
          <p:nvPr/>
        </p:nvSpPr>
        <p:spPr>
          <a:xfrm>
            <a:off x="3786188" y="2271713"/>
            <a:ext cx="942900" cy="2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3578B8"/>
              </a:buClr>
              <a:buSzPts val="800"/>
              <a:buFont typeface="Helvetica Neue"/>
              <a:buNone/>
            </a:pPr>
            <a:r>
              <a:rPr b="1" i="0" lang="en" sz="800">
                <a:solidFill>
                  <a:srgbClr val="3578B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M04 · Method</a:t>
            </a:r>
            <a:endParaRPr sz="1100"/>
          </a:p>
        </p:txBody>
      </p:sp>
      <p:sp>
        <p:nvSpPr>
          <p:cNvPr id="118" name="Google Shape;118;p7"/>
          <p:cNvSpPr/>
          <p:nvPr/>
        </p:nvSpPr>
        <p:spPr>
          <a:xfrm>
            <a:off x="3786188" y="2507456"/>
            <a:ext cx="942900" cy="7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667085"/>
              </a:buClr>
              <a:buSzPts val="400"/>
              <a:buFont typeface="Helvetica Neue"/>
              <a:buNone/>
            </a:pPr>
            <a:r>
              <a:rPr b="0" i="0" lang="en" sz="400">
                <a:solidFill>
                  <a:srgbClr val="667085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Section 3 · p.4</a:t>
            </a:r>
            <a:endParaRPr sz="1100"/>
          </a:p>
        </p:txBody>
      </p:sp>
      <p:sp>
        <p:nvSpPr>
          <p:cNvPr id="119" name="Google Shape;119;p7"/>
          <p:cNvSpPr/>
          <p:nvPr/>
        </p:nvSpPr>
        <p:spPr>
          <a:xfrm>
            <a:off x="2214563" y="2943225"/>
            <a:ext cx="1171500" cy="471600"/>
          </a:xfrm>
          <a:prstGeom prst="roundRect">
            <a:avLst>
              <a:gd fmla="val 21212" name="adj"/>
            </a:avLst>
          </a:prstGeom>
          <a:solidFill>
            <a:srgbClr val="FFFFFF"/>
          </a:solidFill>
          <a:ln cap="flat" cmpd="sng" w="10700">
            <a:solidFill>
              <a:srgbClr val="B7771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p7"/>
          <p:cNvSpPr/>
          <p:nvPr/>
        </p:nvSpPr>
        <p:spPr>
          <a:xfrm>
            <a:off x="2328863" y="3043238"/>
            <a:ext cx="942900" cy="2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B77718"/>
              </a:buClr>
              <a:buSzPts val="800"/>
              <a:buFont typeface="Helvetica Neue"/>
              <a:buNone/>
            </a:pPr>
            <a:r>
              <a:rPr b="1" i="0" lang="en" sz="800">
                <a:solidFill>
                  <a:srgbClr val="B7771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C12 · Claim</a:t>
            </a:r>
            <a:endParaRPr sz="1100"/>
          </a:p>
        </p:txBody>
      </p:sp>
      <p:sp>
        <p:nvSpPr>
          <p:cNvPr id="121" name="Google Shape;121;p7"/>
          <p:cNvSpPr/>
          <p:nvPr/>
        </p:nvSpPr>
        <p:spPr>
          <a:xfrm>
            <a:off x="2328863" y="3278981"/>
            <a:ext cx="942900" cy="7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667085"/>
              </a:buClr>
              <a:buSzPts val="400"/>
              <a:buFont typeface="Helvetica Neue"/>
              <a:buNone/>
            </a:pPr>
            <a:r>
              <a:rPr b="0" i="0" lang="en" sz="400">
                <a:solidFill>
                  <a:srgbClr val="667085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Section 4.2 · p.6</a:t>
            </a:r>
            <a:endParaRPr sz="1100"/>
          </a:p>
        </p:txBody>
      </p:sp>
      <p:sp>
        <p:nvSpPr>
          <p:cNvPr id="122" name="Google Shape;122;p7"/>
          <p:cNvSpPr/>
          <p:nvPr/>
        </p:nvSpPr>
        <p:spPr>
          <a:xfrm>
            <a:off x="3671888" y="2943225"/>
            <a:ext cx="1171500" cy="471600"/>
          </a:xfrm>
          <a:prstGeom prst="roundRect">
            <a:avLst>
              <a:gd fmla="val 21212" name="adj"/>
            </a:avLst>
          </a:prstGeom>
          <a:solidFill>
            <a:srgbClr val="FFFFFF"/>
          </a:solidFill>
          <a:ln cap="flat" cmpd="sng" w="10700">
            <a:solidFill>
              <a:srgbClr val="2F9E7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7"/>
          <p:cNvSpPr/>
          <p:nvPr/>
        </p:nvSpPr>
        <p:spPr>
          <a:xfrm>
            <a:off x="3786188" y="3043238"/>
            <a:ext cx="942900" cy="2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2F9E75"/>
              </a:buClr>
              <a:buSzPts val="800"/>
              <a:buFont typeface="Helvetica Neue"/>
              <a:buNone/>
            </a:pPr>
            <a:r>
              <a:rPr b="1" i="0" lang="en" sz="800">
                <a:solidFill>
                  <a:srgbClr val="2F9E75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E07 · Evidence</a:t>
            </a:r>
            <a:endParaRPr sz="1100"/>
          </a:p>
        </p:txBody>
      </p:sp>
      <p:sp>
        <p:nvSpPr>
          <p:cNvPr id="124" name="Google Shape;124;p7"/>
          <p:cNvSpPr/>
          <p:nvPr/>
        </p:nvSpPr>
        <p:spPr>
          <a:xfrm>
            <a:off x="3786188" y="3278981"/>
            <a:ext cx="942900" cy="7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667085"/>
              </a:buClr>
              <a:buSzPts val="400"/>
              <a:buFont typeface="Helvetica Neue"/>
              <a:buNone/>
            </a:pPr>
            <a:r>
              <a:rPr b="0" i="0" lang="en" sz="400">
                <a:solidFill>
                  <a:srgbClr val="667085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Figure 2 · p.7</a:t>
            </a:r>
            <a:endParaRPr sz="1100"/>
          </a:p>
        </p:txBody>
      </p:sp>
      <p:cxnSp>
        <p:nvCxnSpPr>
          <p:cNvPr id="125" name="Google Shape;125;p7"/>
          <p:cNvCxnSpPr>
            <a:stCxn id="113" idx="3"/>
            <a:endCxn id="116" idx="1"/>
          </p:cNvCxnSpPr>
          <p:nvPr/>
        </p:nvCxnSpPr>
        <p:spPr>
          <a:xfrm>
            <a:off x="3386063" y="2407500"/>
            <a:ext cx="285900" cy="0"/>
          </a:xfrm>
          <a:prstGeom prst="straightConnector1">
            <a:avLst/>
          </a:prstGeom>
          <a:noFill/>
          <a:ln cap="flat" cmpd="sng" w="14300">
            <a:solidFill>
              <a:srgbClr val="6252CC"/>
            </a:solidFill>
            <a:prstDash val="solid"/>
            <a:round/>
            <a:headEnd len="sm" w="sm" type="none"/>
            <a:tailEnd len="sm" w="sm" type="triangle"/>
          </a:ln>
        </p:spPr>
      </p:cxnSp>
      <p:cxnSp>
        <p:nvCxnSpPr>
          <p:cNvPr id="126" name="Google Shape;126;p7"/>
          <p:cNvCxnSpPr>
            <a:stCxn id="116" idx="2"/>
            <a:endCxn id="122" idx="0"/>
          </p:cNvCxnSpPr>
          <p:nvPr/>
        </p:nvCxnSpPr>
        <p:spPr>
          <a:xfrm>
            <a:off x="4257638" y="2643300"/>
            <a:ext cx="0" cy="300000"/>
          </a:xfrm>
          <a:prstGeom prst="straightConnector1">
            <a:avLst/>
          </a:prstGeom>
          <a:noFill/>
          <a:ln cap="flat" cmpd="sng" w="14300">
            <a:solidFill>
              <a:srgbClr val="3578B8"/>
            </a:solidFill>
            <a:prstDash val="solid"/>
            <a:round/>
            <a:headEnd len="sm" w="sm" type="none"/>
            <a:tailEnd len="sm" w="sm" type="triangle"/>
          </a:ln>
        </p:spPr>
      </p:cxnSp>
      <p:cxnSp>
        <p:nvCxnSpPr>
          <p:cNvPr id="127" name="Google Shape;127;p7"/>
          <p:cNvCxnSpPr>
            <a:stCxn id="119" idx="3"/>
            <a:endCxn id="122" idx="1"/>
          </p:cNvCxnSpPr>
          <p:nvPr/>
        </p:nvCxnSpPr>
        <p:spPr>
          <a:xfrm>
            <a:off x="3386063" y="3179025"/>
            <a:ext cx="285900" cy="0"/>
          </a:xfrm>
          <a:prstGeom prst="straightConnector1">
            <a:avLst/>
          </a:prstGeom>
          <a:noFill/>
          <a:ln cap="flat" cmpd="sng" w="14300">
            <a:solidFill>
              <a:srgbClr val="B77718"/>
            </a:solidFill>
            <a:prstDash val="solid"/>
            <a:round/>
            <a:headEnd len="sm" w="sm" type="none"/>
            <a:tailEnd len="sm" w="sm" type="triangle"/>
          </a:ln>
        </p:spPr>
      </p:cxnSp>
      <p:sp>
        <p:nvSpPr>
          <p:cNvPr id="128" name="Google Shape;128;p7"/>
          <p:cNvSpPr/>
          <p:nvPr/>
        </p:nvSpPr>
        <p:spPr>
          <a:xfrm>
            <a:off x="5500688" y="1700213"/>
            <a:ext cx="1357200" cy="1686000"/>
          </a:xfrm>
          <a:prstGeom prst="roundRect">
            <a:avLst>
              <a:gd fmla="val 7368" name="adj"/>
            </a:avLst>
          </a:prstGeom>
          <a:solidFill>
            <a:srgbClr val="E9F2FB"/>
          </a:solidFill>
          <a:ln cap="flat" cmpd="sng" w="10700">
            <a:solidFill>
              <a:srgbClr val="3578B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7"/>
          <p:cNvSpPr/>
          <p:nvPr/>
        </p:nvSpPr>
        <p:spPr>
          <a:xfrm>
            <a:off x="5614988" y="1800225"/>
            <a:ext cx="1128900" cy="2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3578B8"/>
              </a:buClr>
              <a:buSzPts val="1100"/>
              <a:buFont typeface="Helvetica Neue"/>
              <a:buNone/>
            </a:pPr>
            <a:r>
              <a:rPr b="1" i="0" lang="en" sz="1100">
                <a:solidFill>
                  <a:srgbClr val="3578B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Reviewer MAS</a:t>
            </a:r>
            <a:endParaRPr sz="1100"/>
          </a:p>
        </p:txBody>
      </p:sp>
      <p:sp>
        <p:nvSpPr>
          <p:cNvPr id="130" name="Google Shape;130;p7"/>
          <p:cNvSpPr/>
          <p:nvPr/>
        </p:nvSpPr>
        <p:spPr>
          <a:xfrm>
            <a:off x="5614988" y="2035969"/>
            <a:ext cx="1128900" cy="12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667085"/>
              </a:buClr>
              <a:buSzPts val="800"/>
              <a:buFont typeface="Helvetica Neue"/>
              <a:buNone/>
            </a:pPr>
            <a:r>
              <a:rPr b="0" i="0" lang="en" sz="800">
                <a:solidFill>
                  <a:srgbClr val="667085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The coordinator retrieves the relevant subgraph and assigns a small set of checks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800">
              <a:solidFill>
                <a:srgbClr val="667085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667085"/>
              </a:buClr>
              <a:buSzPts val="800"/>
              <a:buFont typeface="Helvetica Neue"/>
              <a:buNone/>
            </a:pPr>
            <a:r>
              <a:rPr b="0" i="0" lang="en" sz="800">
                <a:solidFill>
                  <a:srgbClr val="667085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Contribution</a:t>
            </a:r>
            <a:endParaRPr sz="1100"/>
          </a:p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667085"/>
              </a:buClr>
              <a:buSzPts val="800"/>
              <a:buFont typeface="Helvetica Neue"/>
              <a:buNone/>
            </a:pPr>
            <a:r>
              <a:rPr b="0" i="0" lang="en" sz="800">
                <a:solidFill>
                  <a:srgbClr val="667085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Method</a:t>
            </a:r>
            <a:endParaRPr sz="1100"/>
          </a:p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667085"/>
              </a:buClr>
              <a:buSzPts val="800"/>
              <a:buFont typeface="Helvetica Neue"/>
              <a:buNone/>
            </a:pPr>
            <a:r>
              <a:rPr b="0" i="0" lang="en" sz="800">
                <a:solidFill>
                  <a:srgbClr val="667085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Numbers or scope when needed</a:t>
            </a:r>
            <a:endParaRPr sz="1100"/>
          </a:p>
        </p:txBody>
      </p:sp>
      <p:sp>
        <p:nvSpPr>
          <p:cNvPr id="131" name="Google Shape;131;p7"/>
          <p:cNvSpPr/>
          <p:nvPr/>
        </p:nvSpPr>
        <p:spPr>
          <a:xfrm>
            <a:off x="7229475" y="1700213"/>
            <a:ext cx="1400100" cy="1686000"/>
          </a:xfrm>
          <a:prstGeom prst="roundRect">
            <a:avLst>
              <a:gd fmla="val 7143" name="adj"/>
            </a:avLst>
          </a:prstGeom>
          <a:solidFill>
            <a:srgbClr val="E7F6EF"/>
          </a:solidFill>
          <a:ln cap="flat" cmpd="sng" w="10700">
            <a:solidFill>
              <a:srgbClr val="2F9E7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7"/>
          <p:cNvSpPr/>
          <p:nvPr/>
        </p:nvSpPr>
        <p:spPr>
          <a:xfrm>
            <a:off x="7343775" y="1800225"/>
            <a:ext cx="1171500" cy="2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2F9E75"/>
              </a:buClr>
              <a:buSzPts val="1100"/>
              <a:buFont typeface="Helvetica Neue"/>
              <a:buNone/>
            </a:pPr>
            <a:r>
              <a:rPr b="1" i="0" lang="en" sz="1100">
                <a:solidFill>
                  <a:srgbClr val="2F9E75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Evidence packet</a:t>
            </a:r>
            <a:endParaRPr sz="1100"/>
          </a:p>
        </p:txBody>
      </p:sp>
      <p:sp>
        <p:nvSpPr>
          <p:cNvPr id="133" name="Google Shape;133;p7"/>
          <p:cNvSpPr/>
          <p:nvPr/>
        </p:nvSpPr>
        <p:spPr>
          <a:xfrm>
            <a:off x="7343775" y="2035969"/>
            <a:ext cx="1171500" cy="12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667085"/>
              </a:buClr>
              <a:buSzPts val="800"/>
              <a:buFont typeface="Helvetica Neue"/>
              <a:buNone/>
            </a:pPr>
            <a:r>
              <a:rPr b="0" i="0" lang="en" sz="800">
                <a:solidFill>
                  <a:srgbClr val="667085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Critique and scope</a:t>
            </a:r>
            <a:endParaRPr sz="1100"/>
          </a:p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667085"/>
              </a:buClr>
              <a:buSzPts val="800"/>
              <a:buFont typeface="Helvetica Neue"/>
              <a:buNone/>
            </a:pPr>
            <a:r>
              <a:rPr b="0" i="0" lang="en" sz="800">
                <a:solidFill>
                  <a:srgbClr val="667085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Graph record IDs</a:t>
            </a:r>
            <a:endParaRPr sz="1100"/>
          </a:p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667085"/>
              </a:buClr>
              <a:buSzPts val="800"/>
              <a:buFont typeface="Helvetica Neue"/>
              <a:buNone/>
            </a:pPr>
            <a:r>
              <a:rPr b="0" i="0" lang="en" sz="800">
                <a:solidFill>
                  <a:srgbClr val="667085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Exact source locations</a:t>
            </a:r>
            <a:endParaRPr sz="1100"/>
          </a:p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667085"/>
              </a:buClr>
              <a:buSzPts val="800"/>
              <a:buFont typeface="Helvetica Neue"/>
              <a:buNone/>
            </a:pPr>
            <a:r>
              <a:rPr b="0" i="0" lang="en" sz="800">
                <a:solidFill>
                  <a:srgbClr val="667085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Evidence and counter-evidence</a:t>
            </a:r>
            <a:endParaRPr sz="1100"/>
          </a:p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667085"/>
              </a:buClr>
              <a:buSzPts val="800"/>
              <a:buFont typeface="Helvetica Neue"/>
              <a:buNone/>
            </a:pPr>
            <a:r>
              <a:rPr b="0" i="0" lang="en" sz="800">
                <a:solidFill>
                  <a:srgbClr val="667085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Falsification condition</a:t>
            </a:r>
            <a:endParaRPr sz="1100"/>
          </a:p>
        </p:txBody>
      </p:sp>
      <p:cxnSp>
        <p:nvCxnSpPr>
          <p:cNvPr id="134" name="Google Shape;134;p7"/>
          <p:cNvCxnSpPr>
            <a:stCxn id="107" idx="3"/>
            <a:endCxn id="113" idx="1"/>
          </p:cNvCxnSpPr>
          <p:nvPr/>
        </p:nvCxnSpPr>
        <p:spPr>
          <a:xfrm flipH="1" rot="10800000">
            <a:off x="1700400" y="2407613"/>
            <a:ext cx="514200" cy="135600"/>
          </a:xfrm>
          <a:prstGeom prst="straightConnector1">
            <a:avLst/>
          </a:prstGeom>
          <a:noFill/>
          <a:ln cap="flat" cmpd="sng" w="14300">
            <a:solidFill>
              <a:srgbClr val="6252CC"/>
            </a:solidFill>
            <a:prstDash val="solid"/>
            <a:round/>
            <a:headEnd len="sm" w="sm" type="none"/>
            <a:tailEnd len="sm" w="sm" type="triangle"/>
          </a:ln>
        </p:spPr>
      </p:cxnSp>
      <p:cxnSp>
        <p:nvCxnSpPr>
          <p:cNvPr id="135" name="Google Shape;135;p7"/>
          <p:cNvCxnSpPr>
            <a:stCxn id="122" idx="3"/>
            <a:endCxn id="128" idx="1"/>
          </p:cNvCxnSpPr>
          <p:nvPr/>
        </p:nvCxnSpPr>
        <p:spPr>
          <a:xfrm flipH="1" rot="10800000">
            <a:off x="4843388" y="2543325"/>
            <a:ext cx="657300" cy="635700"/>
          </a:xfrm>
          <a:prstGeom prst="straightConnector1">
            <a:avLst/>
          </a:prstGeom>
          <a:noFill/>
          <a:ln cap="flat" cmpd="sng" w="14300">
            <a:solidFill>
              <a:srgbClr val="3578B8"/>
            </a:solidFill>
            <a:prstDash val="solid"/>
            <a:round/>
            <a:headEnd len="sm" w="sm" type="none"/>
            <a:tailEnd len="sm" w="sm" type="triangle"/>
          </a:ln>
        </p:spPr>
      </p:cxnSp>
      <p:cxnSp>
        <p:nvCxnSpPr>
          <p:cNvPr id="136" name="Google Shape;136;p7"/>
          <p:cNvCxnSpPr>
            <a:stCxn id="128" idx="3"/>
            <a:endCxn id="131" idx="1"/>
          </p:cNvCxnSpPr>
          <p:nvPr/>
        </p:nvCxnSpPr>
        <p:spPr>
          <a:xfrm>
            <a:off x="6857888" y="2543213"/>
            <a:ext cx="371700" cy="0"/>
          </a:xfrm>
          <a:prstGeom prst="straightConnector1">
            <a:avLst/>
          </a:prstGeom>
          <a:noFill/>
          <a:ln cap="flat" cmpd="sng" w="14300">
            <a:solidFill>
              <a:srgbClr val="2F9E75"/>
            </a:solidFill>
            <a:prstDash val="solid"/>
            <a:round/>
            <a:headEnd len="sm" w="sm" type="none"/>
            <a:tailEnd len="sm" w="sm" type="triangle"/>
          </a:ln>
        </p:spPr>
      </p:cxnSp>
      <p:sp>
        <p:nvSpPr>
          <p:cNvPr id="137" name="Google Shape;137;p7"/>
          <p:cNvSpPr/>
          <p:nvPr/>
        </p:nvSpPr>
        <p:spPr>
          <a:xfrm>
            <a:off x="457200" y="3986213"/>
            <a:ext cx="8172600" cy="585900"/>
          </a:xfrm>
          <a:prstGeom prst="roundRect">
            <a:avLst>
              <a:gd fmla="val 14634" name="adj"/>
            </a:avLst>
          </a:prstGeom>
          <a:solidFill>
            <a:srgbClr val="FFFFFF"/>
          </a:solidFill>
          <a:ln cap="flat" cmpd="sng" w="8925">
            <a:solidFill>
              <a:srgbClr val="D9DC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p7"/>
          <p:cNvSpPr/>
          <p:nvPr/>
        </p:nvSpPr>
        <p:spPr>
          <a:xfrm>
            <a:off x="628650" y="4129088"/>
            <a:ext cx="1500000" cy="1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6252CC"/>
              </a:buClr>
              <a:buSzPts val="800"/>
              <a:buFont typeface="Helvetica Neue"/>
              <a:buNone/>
            </a:pPr>
            <a:r>
              <a:rPr b="1" i="0" lang="en" sz="800">
                <a:solidFill>
                  <a:srgbClr val="6252CC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Why the graph matters</a:t>
            </a:r>
            <a:endParaRPr sz="1100"/>
          </a:p>
        </p:txBody>
      </p:sp>
      <p:sp>
        <p:nvSpPr>
          <p:cNvPr id="139" name="Google Shape;139;p7"/>
          <p:cNvSpPr/>
          <p:nvPr/>
        </p:nvSpPr>
        <p:spPr>
          <a:xfrm>
            <a:off x="2143125" y="4093369"/>
            <a:ext cx="6315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5172B"/>
              </a:buClr>
              <a:buSzPts val="1000"/>
              <a:buFont typeface="Helvetica Neue"/>
              <a:buNone/>
            </a:pPr>
            <a:r>
              <a:rPr b="1" i="0" lang="en" sz="1000">
                <a:solidFill>
                  <a:srgbClr val="15172B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Agents locate the relevant evidence without repeatedly searching the full PDF. Every graph record links back to its paragraph, table, figure or appendix section.</a:t>
            </a:r>
            <a:endParaRPr sz="1100"/>
          </a:p>
        </p:txBody>
      </p:sp>
      <p:sp>
        <p:nvSpPr>
          <p:cNvPr id="140" name="Google Shape;140;p7"/>
          <p:cNvSpPr/>
          <p:nvPr/>
        </p:nvSpPr>
        <p:spPr>
          <a:xfrm>
            <a:off x="8343900" y="4922044"/>
            <a:ext cx="342900" cy="14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6252CC"/>
              </a:buClr>
              <a:buSzPts val="700"/>
              <a:buFont typeface="Helvetica Neue"/>
              <a:buNone/>
            </a:pPr>
            <a:r>
              <a:rPr b="1" i="0" lang="en" sz="700">
                <a:solidFill>
                  <a:srgbClr val="6252CC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05</a:t>
            </a:r>
            <a:endParaRPr sz="11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7FB"/>
        </a:solidFill>
      </p:bgPr>
    </p:bg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8"/>
          <p:cNvSpPr/>
          <p:nvPr/>
        </p:nvSpPr>
        <p:spPr>
          <a:xfrm>
            <a:off x="457200" y="271463"/>
            <a:ext cx="5857875" cy="18573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6252CC"/>
              </a:buClr>
              <a:buSzPts val="800"/>
              <a:buFont typeface="Helvetica Neue"/>
              <a:buNone/>
            </a:pPr>
            <a:r>
              <a:rPr b="1" lang="en" sz="800">
                <a:solidFill>
                  <a:srgbClr val="6252CC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EVIDENCE-BASED MAS DEFENDER</a:t>
            </a:r>
            <a:endParaRPr sz="1100"/>
          </a:p>
        </p:txBody>
      </p:sp>
      <p:sp>
        <p:nvSpPr>
          <p:cNvPr id="147" name="Google Shape;147;p8"/>
          <p:cNvSpPr/>
          <p:nvPr/>
        </p:nvSpPr>
        <p:spPr>
          <a:xfrm>
            <a:off x="457200" y="500075"/>
            <a:ext cx="8314200" cy="4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5172B"/>
              </a:buClr>
              <a:buSzPts val="2100"/>
              <a:buFont typeface="Helvetica Neue"/>
              <a:buNone/>
            </a:pPr>
            <a:r>
              <a:rPr b="1" lang="en" sz="2100">
                <a:solidFill>
                  <a:srgbClr val="15172B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The</a:t>
            </a:r>
            <a:r>
              <a:rPr b="1" i="0" lang="en" sz="2100">
                <a:solidFill>
                  <a:srgbClr val="15172B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b="1" lang="en" sz="2100">
                <a:solidFill>
                  <a:srgbClr val="15172B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defender</a:t>
            </a:r>
            <a:r>
              <a:rPr b="1" i="0" lang="en" sz="2100">
                <a:solidFill>
                  <a:srgbClr val="15172B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b="1" lang="en" sz="2100">
                <a:solidFill>
                  <a:srgbClr val="15172B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attempts to search for counter-evidence</a:t>
            </a:r>
            <a:endParaRPr sz="1100"/>
          </a:p>
        </p:txBody>
      </p:sp>
      <p:sp>
        <p:nvSpPr>
          <p:cNvPr id="148" name="Google Shape;148;p8"/>
          <p:cNvSpPr/>
          <p:nvPr/>
        </p:nvSpPr>
        <p:spPr>
          <a:xfrm>
            <a:off x="457200" y="1000125"/>
            <a:ext cx="8001000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667085"/>
              </a:buClr>
              <a:buSzPts val="1100"/>
              <a:buFont typeface="Helvetica Neue"/>
              <a:buNone/>
            </a:pPr>
            <a:r>
              <a:rPr b="0" i="0" lang="en" sz="1100">
                <a:solidFill>
                  <a:srgbClr val="667085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Specialists are generated from the critique, then reconcile their work in one inspectable ledger.</a:t>
            </a:r>
            <a:endParaRPr sz="1100"/>
          </a:p>
        </p:txBody>
      </p:sp>
      <p:sp>
        <p:nvSpPr>
          <p:cNvPr id="149" name="Google Shape;149;p8"/>
          <p:cNvSpPr/>
          <p:nvPr/>
        </p:nvSpPr>
        <p:spPr>
          <a:xfrm>
            <a:off x="457200" y="1571625"/>
            <a:ext cx="1750219" cy="742950"/>
          </a:xfrm>
          <a:prstGeom prst="roundRect">
            <a:avLst>
              <a:gd fmla="val 13462" name="adj"/>
            </a:avLst>
          </a:prstGeom>
          <a:solidFill>
            <a:srgbClr val="FFFFFF"/>
          </a:solidFill>
          <a:ln cap="flat" cmpd="sng" w="14275">
            <a:solidFill>
              <a:srgbClr val="D9DC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p8"/>
          <p:cNvSpPr/>
          <p:nvPr/>
        </p:nvSpPr>
        <p:spPr>
          <a:xfrm>
            <a:off x="571500" y="1671638"/>
            <a:ext cx="1521619" cy="2143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5172B"/>
              </a:buClr>
              <a:buSzPts val="1100"/>
              <a:buFont typeface="Helvetica Neue"/>
              <a:buNone/>
            </a:pPr>
            <a:r>
              <a:rPr b="1" i="0" lang="en" sz="1100">
                <a:solidFill>
                  <a:srgbClr val="15172B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Interpret critique</a:t>
            </a:r>
            <a:endParaRPr sz="1100"/>
          </a:p>
        </p:txBody>
      </p:sp>
      <p:sp>
        <p:nvSpPr>
          <p:cNvPr id="151" name="Google Shape;151;p8"/>
          <p:cNvSpPr/>
          <p:nvPr/>
        </p:nvSpPr>
        <p:spPr>
          <a:xfrm>
            <a:off x="571500" y="1907381"/>
            <a:ext cx="1521619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667085"/>
              </a:buClr>
              <a:buSzPts val="800"/>
              <a:buFont typeface="Helvetica Neue"/>
              <a:buNone/>
            </a:pPr>
            <a:r>
              <a:rPr b="0" i="0" lang="en" sz="800">
                <a:solidFill>
                  <a:srgbClr val="667085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Split factual claim, scientific judgment and requested action</a:t>
            </a:r>
            <a:endParaRPr sz="1100"/>
          </a:p>
        </p:txBody>
      </p:sp>
      <p:sp>
        <p:nvSpPr>
          <p:cNvPr id="152" name="Google Shape;152;p8"/>
          <p:cNvSpPr/>
          <p:nvPr/>
        </p:nvSpPr>
        <p:spPr>
          <a:xfrm>
            <a:off x="2586038" y="1571625"/>
            <a:ext cx="1750219" cy="742950"/>
          </a:xfrm>
          <a:prstGeom prst="roundRect">
            <a:avLst>
              <a:gd fmla="val 13462" name="adj"/>
            </a:avLst>
          </a:prstGeom>
          <a:solidFill>
            <a:srgbClr val="FFFFFF"/>
          </a:solidFill>
          <a:ln cap="flat" cmpd="sng" w="14275">
            <a:solidFill>
              <a:srgbClr val="D9DC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p8"/>
          <p:cNvSpPr/>
          <p:nvPr/>
        </p:nvSpPr>
        <p:spPr>
          <a:xfrm>
            <a:off x="2700338" y="1671638"/>
            <a:ext cx="1521619" cy="2143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5172B"/>
              </a:buClr>
              <a:buSzPts val="1100"/>
              <a:buFont typeface="Helvetica Neue"/>
              <a:buNone/>
            </a:pPr>
            <a:r>
              <a:rPr b="1" i="0" lang="en" sz="1100">
                <a:solidFill>
                  <a:srgbClr val="15172B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Plan evidence</a:t>
            </a:r>
            <a:endParaRPr sz="1100"/>
          </a:p>
        </p:txBody>
      </p:sp>
      <p:sp>
        <p:nvSpPr>
          <p:cNvPr id="154" name="Google Shape;154;p8"/>
          <p:cNvSpPr/>
          <p:nvPr/>
        </p:nvSpPr>
        <p:spPr>
          <a:xfrm>
            <a:off x="2700338" y="1907381"/>
            <a:ext cx="1521619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667085"/>
              </a:buClr>
              <a:buSzPts val="800"/>
              <a:buFont typeface="Helvetica Neue"/>
              <a:buNone/>
            </a:pPr>
            <a:r>
              <a:rPr b="0" i="0" lang="en" sz="800">
                <a:solidFill>
                  <a:srgbClr val="667085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Choose records, checks, tools and stop rules</a:t>
            </a:r>
            <a:endParaRPr sz="1100"/>
          </a:p>
        </p:txBody>
      </p:sp>
      <p:sp>
        <p:nvSpPr>
          <p:cNvPr id="155" name="Google Shape;155;p8"/>
          <p:cNvSpPr/>
          <p:nvPr/>
        </p:nvSpPr>
        <p:spPr>
          <a:xfrm>
            <a:off x="4714875" y="1571625"/>
            <a:ext cx="1750219" cy="742950"/>
          </a:xfrm>
          <a:prstGeom prst="roundRect">
            <a:avLst>
              <a:gd fmla="val 13462" name="adj"/>
            </a:avLst>
          </a:prstGeom>
          <a:solidFill>
            <a:srgbClr val="EAE6FF"/>
          </a:solidFill>
          <a:ln cap="flat" cmpd="sng" w="14275">
            <a:solidFill>
              <a:srgbClr val="6252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p8"/>
          <p:cNvSpPr/>
          <p:nvPr/>
        </p:nvSpPr>
        <p:spPr>
          <a:xfrm>
            <a:off x="4829175" y="1671638"/>
            <a:ext cx="1521619" cy="2143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43349B"/>
              </a:buClr>
              <a:buSzPts val="1100"/>
              <a:buFont typeface="Helvetica Neue"/>
              <a:buNone/>
            </a:pPr>
            <a:r>
              <a:rPr b="1" i="0" lang="en" sz="1100">
                <a:solidFill>
                  <a:srgbClr val="43349B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Generate specialists</a:t>
            </a:r>
            <a:endParaRPr sz="1100"/>
          </a:p>
        </p:txBody>
      </p:sp>
      <p:sp>
        <p:nvSpPr>
          <p:cNvPr id="157" name="Google Shape;157;p8"/>
          <p:cNvSpPr/>
          <p:nvPr/>
        </p:nvSpPr>
        <p:spPr>
          <a:xfrm>
            <a:off x="4829175" y="1907381"/>
            <a:ext cx="1521619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667085"/>
              </a:buClr>
              <a:buSzPts val="800"/>
              <a:buFont typeface="Helvetica Neue"/>
              <a:buNone/>
            </a:pPr>
            <a:r>
              <a:rPr b="0" i="0" lang="en" sz="800">
                <a:solidFill>
                  <a:srgbClr val="667085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Only roles required by this finding</a:t>
            </a:r>
            <a:endParaRPr sz="1100"/>
          </a:p>
        </p:txBody>
      </p:sp>
      <p:sp>
        <p:nvSpPr>
          <p:cNvPr id="158" name="Google Shape;158;p8"/>
          <p:cNvSpPr/>
          <p:nvPr/>
        </p:nvSpPr>
        <p:spPr>
          <a:xfrm>
            <a:off x="6843713" y="1571625"/>
            <a:ext cx="1785938" cy="742950"/>
          </a:xfrm>
          <a:prstGeom prst="roundRect">
            <a:avLst>
              <a:gd fmla="val 13462" name="adj"/>
            </a:avLst>
          </a:prstGeom>
          <a:solidFill>
            <a:srgbClr val="E7F6EF"/>
          </a:solidFill>
          <a:ln cap="flat" cmpd="sng" w="14275">
            <a:solidFill>
              <a:srgbClr val="2F9E7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8"/>
          <p:cNvSpPr/>
          <p:nvPr/>
        </p:nvSpPr>
        <p:spPr>
          <a:xfrm>
            <a:off x="6958013" y="1671638"/>
            <a:ext cx="1557338" cy="2143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2F9E75"/>
              </a:buClr>
              <a:buSzPts val="1100"/>
              <a:buFont typeface="Helvetica Neue"/>
              <a:buNone/>
            </a:pPr>
            <a:r>
              <a:rPr b="1" i="0" lang="en" sz="1100">
                <a:solidFill>
                  <a:srgbClr val="2F9E75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Evidence ledger</a:t>
            </a:r>
            <a:endParaRPr sz="1100"/>
          </a:p>
        </p:txBody>
      </p:sp>
      <p:sp>
        <p:nvSpPr>
          <p:cNvPr id="160" name="Google Shape;160;p8"/>
          <p:cNvSpPr/>
          <p:nvPr/>
        </p:nvSpPr>
        <p:spPr>
          <a:xfrm>
            <a:off x="6958013" y="1907381"/>
            <a:ext cx="1557338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667085"/>
              </a:buClr>
              <a:buSzPts val="800"/>
              <a:buFont typeface="Helvetica Neue"/>
              <a:buNone/>
            </a:pPr>
            <a:r>
              <a:rPr b="0" i="0" lang="en" sz="800">
                <a:solidFill>
                  <a:srgbClr val="667085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Reconcile evidence, counter-evidence and provenance</a:t>
            </a:r>
            <a:endParaRPr sz="1100"/>
          </a:p>
        </p:txBody>
      </p:sp>
      <p:cxnSp>
        <p:nvCxnSpPr>
          <p:cNvPr id="161" name="Google Shape;161;p8"/>
          <p:cNvCxnSpPr>
            <a:stCxn id="149" idx="3"/>
            <a:endCxn id="152" idx="1"/>
          </p:cNvCxnSpPr>
          <p:nvPr/>
        </p:nvCxnSpPr>
        <p:spPr>
          <a:xfrm>
            <a:off x="2207419" y="1943100"/>
            <a:ext cx="378600" cy="0"/>
          </a:xfrm>
          <a:prstGeom prst="straightConnector1">
            <a:avLst/>
          </a:prstGeom>
          <a:noFill/>
          <a:ln cap="flat" cmpd="sng" w="19050">
            <a:solidFill>
              <a:srgbClr val="D9DCE8"/>
            </a:solidFill>
            <a:prstDash val="solid"/>
            <a:round/>
            <a:headEnd len="sm" w="sm" type="none"/>
            <a:tailEnd len="sm" w="sm" type="triangle"/>
          </a:ln>
        </p:spPr>
      </p:cxnSp>
      <p:cxnSp>
        <p:nvCxnSpPr>
          <p:cNvPr id="162" name="Google Shape;162;p8"/>
          <p:cNvCxnSpPr>
            <a:stCxn id="152" idx="3"/>
            <a:endCxn id="155" idx="1"/>
          </p:cNvCxnSpPr>
          <p:nvPr/>
        </p:nvCxnSpPr>
        <p:spPr>
          <a:xfrm>
            <a:off x="4336256" y="1943100"/>
            <a:ext cx="378600" cy="0"/>
          </a:xfrm>
          <a:prstGeom prst="straightConnector1">
            <a:avLst/>
          </a:prstGeom>
          <a:noFill/>
          <a:ln cap="flat" cmpd="sng" w="19050">
            <a:solidFill>
              <a:srgbClr val="6252CC"/>
            </a:solidFill>
            <a:prstDash val="solid"/>
            <a:round/>
            <a:headEnd len="sm" w="sm" type="none"/>
            <a:tailEnd len="sm" w="sm" type="triangle"/>
          </a:ln>
        </p:spPr>
      </p:cxnSp>
      <p:cxnSp>
        <p:nvCxnSpPr>
          <p:cNvPr id="163" name="Google Shape;163;p8"/>
          <p:cNvCxnSpPr>
            <a:stCxn id="155" idx="3"/>
            <a:endCxn id="158" idx="1"/>
          </p:cNvCxnSpPr>
          <p:nvPr/>
        </p:nvCxnSpPr>
        <p:spPr>
          <a:xfrm>
            <a:off x="6465094" y="1943100"/>
            <a:ext cx="378600" cy="0"/>
          </a:xfrm>
          <a:prstGeom prst="straightConnector1">
            <a:avLst/>
          </a:prstGeom>
          <a:noFill/>
          <a:ln cap="flat" cmpd="sng" w="19050">
            <a:solidFill>
              <a:srgbClr val="2F9E75"/>
            </a:solidFill>
            <a:prstDash val="solid"/>
            <a:round/>
            <a:headEnd len="sm" w="sm" type="none"/>
            <a:tailEnd len="sm" w="sm" type="triangle"/>
          </a:ln>
        </p:spPr>
      </p:cxnSp>
      <p:sp>
        <p:nvSpPr>
          <p:cNvPr id="164" name="Google Shape;164;p8"/>
          <p:cNvSpPr/>
          <p:nvPr/>
        </p:nvSpPr>
        <p:spPr>
          <a:xfrm>
            <a:off x="457200" y="2643188"/>
            <a:ext cx="3643313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5172B"/>
              </a:buClr>
              <a:buSzPts val="1300"/>
              <a:buFont typeface="Helvetica Neue"/>
              <a:buNone/>
            </a:pPr>
            <a:r>
              <a:rPr b="1" i="0" lang="en" sz="1300">
                <a:solidFill>
                  <a:srgbClr val="15172B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Specialists for two example findings</a:t>
            </a:r>
            <a:endParaRPr sz="1100"/>
          </a:p>
        </p:txBody>
      </p:sp>
      <p:sp>
        <p:nvSpPr>
          <p:cNvPr id="165" name="Google Shape;165;p8"/>
          <p:cNvSpPr/>
          <p:nvPr/>
        </p:nvSpPr>
        <p:spPr>
          <a:xfrm>
            <a:off x="457200" y="3014663"/>
            <a:ext cx="1200150" cy="214313"/>
          </a:xfrm>
          <a:prstGeom prst="roundRect">
            <a:avLst>
              <a:gd fmla="val 50000" name="adj"/>
            </a:avLst>
          </a:prstGeom>
          <a:solidFill>
            <a:srgbClr val="EAE6FF"/>
          </a:solidFill>
          <a:ln cap="flat" cmpd="sng" w="9525">
            <a:solidFill>
              <a:srgbClr val="EAE6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4300" lIns="57150" spcFirstLastPara="1" rIns="57150" wrap="square" tIns="28575">
            <a:noAutofit/>
          </a:bodyPr>
          <a:lstStyle/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6252CC"/>
              </a:buClr>
              <a:buSzPts val="700"/>
              <a:buFont typeface="Helvetica Neue"/>
              <a:buNone/>
            </a:pPr>
            <a:r>
              <a:rPr b="1" i="0" lang="en" sz="700">
                <a:solidFill>
                  <a:srgbClr val="6252CC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Claim mapper</a:t>
            </a:r>
            <a:endParaRPr sz="1100"/>
          </a:p>
        </p:txBody>
      </p:sp>
      <p:sp>
        <p:nvSpPr>
          <p:cNvPr id="166" name="Google Shape;166;p8"/>
          <p:cNvSpPr/>
          <p:nvPr/>
        </p:nvSpPr>
        <p:spPr>
          <a:xfrm>
            <a:off x="1771650" y="3028950"/>
            <a:ext cx="2214563" cy="2143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667085"/>
              </a:buClr>
              <a:buSzPts val="900"/>
              <a:buFont typeface="Helvetica Neue"/>
              <a:buNone/>
            </a:pPr>
            <a:r>
              <a:rPr b="0" i="0" lang="en" sz="900">
                <a:solidFill>
                  <a:srgbClr val="667085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Preserve quantifiers and claim scope</a:t>
            </a:r>
            <a:endParaRPr sz="1100"/>
          </a:p>
        </p:txBody>
      </p:sp>
      <p:sp>
        <p:nvSpPr>
          <p:cNvPr id="167" name="Google Shape;167;p8"/>
          <p:cNvSpPr/>
          <p:nvPr/>
        </p:nvSpPr>
        <p:spPr>
          <a:xfrm>
            <a:off x="457200" y="3371850"/>
            <a:ext cx="1200150" cy="214313"/>
          </a:xfrm>
          <a:prstGeom prst="roundRect">
            <a:avLst>
              <a:gd fmla="val 50000" name="adj"/>
            </a:avLst>
          </a:prstGeom>
          <a:solidFill>
            <a:srgbClr val="E9F2FB"/>
          </a:solidFill>
          <a:ln cap="flat" cmpd="sng" w="9525">
            <a:solidFill>
              <a:srgbClr val="E9F2F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4300" lIns="57150" spcFirstLastPara="1" rIns="57150" wrap="square" tIns="28575">
            <a:noAutofit/>
          </a:bodyPr>
          <a:lstStyle/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3578B8"/>
              </a:buClr>
              <a:buSzPts val="700"/>
              <a:buFont typeface="Helvetica Neue"/>
              <a:buNone/>
            </a:pPr>
            <a:r>
              <a:rPr b="1" i="0" lang="en" sz="700">
                <a:solidFill>
                  <a:srgbClr val="3578B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Source auditor</a:t>
            </a:r>
            <a:endParaRPr sz="1100"/>
          </a:p>
        </p:txBody>
      </p:sp>
      <p:sp>
        <p:nvSpPr>
          <p:cNvPr id="168" name="Google Shape;168;p8"/>
          <p:cNvSpPr/>
          <p:nvPr/>
        </p:nvSpPr>
        <p:spPr>
          <a:xfrm>
            <a:off x="1771650" y="3386138"/>
            <a:ext cx="2214563" cy="2143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667085"/>
              </a:buClr>
              <a:buSzPts val="900"/>
              <a:buFont typeface="Helvetica Neue"/>
              <a:buNone/>
            </a:pPr>
            <a:r>
              <a:rPr b="0" i="0" lang="en" sz="900">
                <a:solidFill>
                  <a:srgbClr val="667085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Follow method variants, appendix and figures</a:t>
            </a:r>
            <a:endParaRPr sz="1100"/>
          </a:p>
        </p:txBody>
      </p:sp>
      <p:sp>
        <p:nvSpPr>
          <p:cNvPr id="169" name="Google Shape;169;p8"/>
          <p:cNvSpPr/>
          <p:nvPr/>
        </p:nvSpPr>
        <p:spPr>
          <a:xfrm>
            <a:off x="457200" y="3729038"/>
            <a:ext cx="1200150" cy="214313"/>
          </a:xfrm>
          <a:prstGeom prst="roundRect">
            <a:avLst>
              <a:gd fmla="val 50000" name="adj"/>
            </a:avLst>
          </a:prstGeom>
          <a:solidFill>
            <a:srgbClr val="FDEBE9"/>
          </a:solidFill>
          <a:ln cap="flat" cmpd="sng" w="9525">
            <a:solidFill>
              <a:srgbClr val="FDEBE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4300" lIns="57150" spcFirstLastPara="1" rIns="57150" wrap="square" tIns="28575">
            <a:noAutofit/>
          </a:bodyPr>
          <a:lstStyle/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D85B51"/>
              </a:buClr>
              <a:buSzPts val="700"/>
              <a:buFont typeface="Helvetica Neue"/>
              <a:buNone/>
            </a:pPr>
            <a:r>
              <a:rPr b="1" i="0" lang="en" sz="700">
                <a:solidFill>
                  <a:srgbClr val="D85B5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Numerical checker</a:t>
            </a:r>
            <a:endParaRPr sz="1100"/>
          </a:p>
        </p:txBody>
      </p:sp>
      <p:sp>
        <p:nvSpPr>
          <p:cNvPr id="170" name="Google Shape;170;p8"/>
          <p:cNvSpPr/>
          <p:nvPr/>
        </p:nvSpPr>
        <p:spPr>
          <a:xfrm>
            <a:off x="1771650" y="3743325"/>
            <a:ext cx="2214563" cy="2143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667085"/>
              </a:buClr>
              <a:buSzPts val="900"/>
              <a:buFont typeface="Helvetica Neue"/>
              <a:buNone/>
            </a:pPr>
            <a:r>
              <a:rPr b="0" i="0" lang="en" sz="900">
                <a:solidFill>
                  <a:srgbClr val="667085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Recompute 70 choose 2</a:t>
            </a:r>
            <a:endParaRPr sz="1100"/>
          </a:p>
        </p:txBody>
      </p:sp>
      <p:sp>
        <p:nvSpPr>
          <p:cNvPr id="171" name="Google Shape;171;p8"/>
          <p:cNvSpPr/>
          <p:nvPr/>
        </p:nvSpPr>
        <p:spPr>
          <a:xfrm>
            <a:off x="457200" y="4086225"/>
            <a:ext cx="1200150" cy="214313"/>
          </a:xfrm>
          <a:prstGeom prst="roundRect">
            <a:avLst>
              <a:gd fmla="val 50000" name="adj"/>
            </a:avLst>
          </a:prstGeom>
          <a:solidFill>
            <a:srgbClr val="FFF2D8"/>
          </a:solidFill>
          <a:ln cap="flat" cmpd="sng" w="9525">
            <a:solidFill>
              <a:srgbClr val="FFF2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4300" lIns="57150" spcFirstLastPara="1" rIns="57150" wrap="square" tIns="28575">
            <a:noAutofit/>
          </a:bodyPr>
          <a:lstStyle/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B77718"/>
              </a:buClr>
              <a:buSzPts val="700"/>
              <a:buFont typeface="Helvetica Neue"/>
              <a:buNone/>
            </a:pPr>
            <a:r>
              <a:rPr b="1" i="0" lang="en" sz="700">
                <a:solidFill>
                  <a:srgbClr val="B7771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Scope assessor</a:t>
            </a:r>
            <a:endParaRPr sz="1100"/>
          </a:p>
        </p:txBody>
      </p:sp>
      <p:sp>
        <p:nvSpPr>
          <p:cNvPr id="172" name="Google Shape;172;p8"/>
          <p:cNvSpPr/>
          <p:nvPr/>
        </p:nvSpPr>
        <p:spPr>
          <a:xfrm>
            <a:off x="1771650" y="4100513"/>
            <a:ext cx="2214563" cy="2143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667085"/>
              </a:buClr>
              <a:buSzPts val="900"/>
              <a:buFont typeface="Helvetica Neue"/>
              <a:buNone/>
            </a:pPr>
            <a:r>
              <a:rPr b="0" i="0" lang="en" sz="900">
                <a:solidFill>
                  <a:srgbClr val="667085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Test whether a requested metric is mandatory</a:t>
            </a:r>
            <a:endParaRPr sz="1100"/>
          </a:p>
        </p:txBody>
      </p:sp>
      <p:sp>
        <p:nvSpPr>
          <p:cNvPr id="173" name="Google Shape;173;p8"/>
          <p:cNvSpPr/>
          <p:nvPr/>
        </p:nvSpPr>
        <p:spPr>
          <a:xfrm>
            <a:off x="4429125" y="2643188"/>
            <a:ext cx="2143125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5172B"/>
              </a:buClr>
              <a:buSzPts val="1300"/>
              <a:buFont typeface="Helvetica Neue"/>
              <a:buNone/>
            </a:pPr>
            <a:r>
              <a:rPr b="1" i="0" lang="en" sz="1300">
                <a:solidFill>
                  <a:srgbClr val="15172B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Ledger snapshot</a:t>
            </a:r>
            <a:endParaRPr sz="1100"/>
          </a:p>
        </p:txBody>
      </p:sp>
      <p:sp>
        <p:nvSpPr>
          <p:cNvPr id="174" name="Google Shape;174;p8"/>
          <p:cNvSpPr/>
          <p:nvPr/>
        </p:nvSpPr>
        <p:spPr>
          <a:xfrm>
            <a:off x="4429125" y="2928938"/>
            <a:ext cx="842963" cy="1571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667085"/>
              </a:buClr>
              <a:buSzPts val="700"/>
              <a:buFont typeface="Helvetica Neue"/>
              <a:buNone/>
            </a:pPr>
            <a:r>
              <a:rPr b="1" i="0" lang="en" sz="700">
                <a:solidFill>
                  <a:srgbClr val="667085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FINDING</a:t>
            </a:r>
            <a:endParaRPr sz="1100"/>
          </a:p>
        </p:txBody>
      </p:sp>
      <p:sp>
        <p:nvSpPr>
          <p:cNvPr id="175" name="Google Shape;175;p8"/>
          <p:cNvSpPr/>
          <p:nvPr/>
        </p:nvSpPr>
        <p:spPr>
          <a:xfrm>
            <a:off x="5343525" y="2928938"/>
            <a:ext cx="1143000" cy="1571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667085"/>
              </a:buClr>
              <a:buSzPts val="700"/>
              <a:buFont typeface="Helvetica Neue"/>
              <a:buNone/>
            </a:pPr>
            <a:r>
              <a:rPr b="1" i="0" lang="en" sz="700">
                <a:solidFill>
                  <a:srgbClr val="667085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EVIDENCE FOR</a:t>
            </a:r>
            <a:endParaRPr sz="1100"/>
          </a:p>
        </p:txBody>
      </p:sp>
      <p:sp>
        <p:nvSpPr>
          <p:cNvPr id="176" name="Google Shape;176;p8"/>
          <p:cNvSpPr/>
          <p:nvPr/>
        </p:nvSpPr>
        <p:spPr>
          <a:xfrm>
            <a:off x="6557963" y="2928938"/>
            <a:ext cx="1214438" cy="1571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667085"/>
              </a:buClr>
              <a:buSzPts val="700"/>
              <a:buFont typeface="Helvetica Neue"/>
              <a:buNone/>
            </a:pPr>
            <a:r>
              <a:rPr b="1" i="0" lang="en" sz="700">
                <a:solidFill>
                  <a:srgbClr val="667085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COUNTER-EVIDENCE</a:t>
            </a:r>
            <a:endParaRPr sz="1100"/>
          </a:p>
        </p:txBody>
      </p:sp>
      <p:sp>
        <p:nvSpPr>
          <p:cNvPr id="177" name="Google Shape;177;p8"/>
          <p:cNvSpPr/>
          <p:nvPr/>
        </p:nvSpPr>
        <p:spPr>
          <a:xfrm>
            <a:off x="7858125" y="2928938"/>
            <a:ext cx="685800" cy="1571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667085"/>
              </a:buClr>
              <a:buSzPts val="700"/>
              <a:buFont typeface="Helvetica Neue"/>
              <a:buNone/>
            </a:pPr>
            <a:r>
              <a:rPr b="1" i="0" lang="en" sz="700">
                <a:solidFill>
                  <a:srgbClr val="667085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STATUS</a:t>
            </a:r>
            <a:endParaRPr sz="1100"/>
          </a:p>
        </p:txBody>
      </p:sp>
      <p:cxnSp>
        <p:nvCxnSpPr>
          <p:cNvPr id="178" name="Google Shape;178;p8"/>
          <p:cNvCxnSpPr/>
          <p:nvPr/>
        </p:nvCxnSpPr>
        <p:spPr>
          <a:xfrm>
            <a:off x="4429125" y="3143250"/>
            <a:ext cx="4071938" cy="0"/>
          </a:xfrm>
          <a:prstGeom prst="straightConnector1">
            <a:avLst/>
          </a:prstGeom>
          <a:noFill/>
          <a:ln cap="flat" cmpd="sng" w="9525">
            <a:solidFill>
              <a:srgbClr val="D9DCE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79" name="Google Shape;179;p8"/>
          <p:cNvSpPr/>
          <p:nvPr/>
        </p:nvSpPr>
        <p:spPr>
          <a:xfrm>
            <a:off x="4429125" y="3343275"/>
            <a:ext cx="642938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5172B"/>
              </a:buClr>
              <a:buSzPts val="900"/>
              <a:buFont typeface="Helvetica Neue"/>
              <a:buNone/>
            </a:pPr>
            <a:r>
              <a:rPr b="1" i="0" lang="en" sz="900">
                <a:solidFill>
                  <a:srgbClr val="15172B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F03</a:t>
            </a:r>
            <a:endParaRPr sz="1100"/>
          </a:p>
        </p:txBody>
      </p:sp>
      <p:sp>
        <p:nvSpPr>
          <p:cNvPr id="180" name="Google Shape;180;p8"/>
          <p:cNvSpPr/>
          <p:nvPr/>
        </p:nvSpPr>
        <p:spPr>
          <a:xfrm>
            <a:off x="5343525" y="3343275"/>
            <a:ext cx="1107281" cy="2714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667085"/>
              </a:buClr>
              <a:buSzPts val="800"/>
              <a:buFont typeface="Helvetica Neue"/>
              <a:buNone/>
            </a:pPr>
            <a:r>
              <a:rPr b="0" i="0" lang="en" sz="800">
                <a:solidFill>
                  <a:srgbClr val="667085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Coverage concern</a:t>
            </a:r>
            <a:endParaRPr sz="1100"/>
          </a:p>
        </p:txBody>
      </p:sp>
      <p:sp>
        <p:nvSpPr>
          <p:cNvPr id="181" name="Google Shape;181;p8"/>
          <p:cNvSpPr/>
          <p:nvPr/>
        </p:nvSpPr>
        <p:spPr>
          <a:xfrm>
            <a:off x="6557963" y="3343275"/>
            <a:ext cx="1243013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5172B"/>
              </a:buClr>
              <a:buSzPts val="800"/>
              <a:buFont typeface="Helvetica Neue"/>
              <a:buNone/>
            </a:pPr>
            <a:r>
              <a:rPr b="0" i="0" lang="en" sz="800">
                <a:solidFill>
                  <a:srgbClr val="15172B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ERank + ConvNeXt + R sensitivity</a:t>
            </a:r>
            <a:endParaRPr sz="1100"/>
          </a:p>
        </p:txBody>
      </p:sp>
      <p:sp>
        <p:nvSpPr>
          <p:cNvPr id="182" name="Google Shape;182;p8"/>
          <p:cNvSpPr/>
          <p:nvPr/>
        </p:nvSpPr>
        <p:spPr>
          <a:xfrm>
            <a:off x="7858125" y="3328988"/>
            <a:ext cx="642938" cy="214313"/>
          </a:xfrm>
          <a:prstGeom prst="roundRect">
            <a:avLst>
              <a:gd fmla="val 50000" name="adj"/>
            </a:avLst>
          </a:prstGeom>
          <a:solidFill>
            <a:srgbClr val="E7F6EF"/>
          </a:solidFill>
          <a:ln cap="flat" cmpd="sng" w="9525">
            <a:solidFill>
              <a:srgbClr val="E7F6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4300" lIns="57150" spcFirstLastPara="1" rIns="57150" wrap="square" tIns="28575">
            <a:noAutofit/>
          </a:bodyPr>
          <a:lstStyle/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2F9E75"/>
              </a:buClr>
              <a:buSzPts val="700"/>
              <a:buFont typeface="Helvetica Neue"/>
              <a:buNone/>
            </a:pPr>
            <a:r>
              <a:rPr b="1" i="0" lang="en" sz="700">
                <a:solidFill>
                  <a:srgbClr val="2F9E75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Refuted</a:t>
            </a:r>
            <a:endParaRPr sz="1100"/>
          </a:p>
        </p:txBody>
      </p:sp>
      <p:cxnSp>
        <p:nvCxnSpPr>
          <p:cNvPr id="183" name="Google Shape;183;p8"/>
          <p:cNvCxnSpPr/>
          <p:nvPr/>
        </p:nvCxnSpPr>
        <p:spPr>
          <a:xfrm>
            <a:off x="4429125" y="3643313"/>
            <a:ext cx="4071938" cy="0"/>
          </a:xfrm>
          <a:prstGeom prst="straightConnector1">
            <a:avLst/>
          </a:prstGeom>
          <a:noFill/>
          <a:ln cap="flat" cmpd="sng" w="9525">
            <a:solidFill>
              <a:srgbClr val="D9DCE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84" name="Google Shape;184;p8"/>
          <p:cNvSpPr/>
          <p:nvPr/>
        </p:nvSpPr>
        <p:spPr>
          <a:xfrm>
            <a:off x="4429125" y="3729038"/>
            <a:ext cx="642938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5172B"/>
              </a:buClr>
              <a:buSzPts val="900"/>
              <a:buFont typeface="Helvetica Neue"/>
              <a:buNone/>
            </a:pPr>
            <a:r>
              <a:rPr b="1" i="0" lang="en" sz="900">
                <a:solidFill>
                  <a:srgbClr val="15172B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F04</a:t>
            </a:r>
            <a:endParaRPr sz="1100"/>
          </a:p>
        </p:txBody>
      </p:sp>
      <p:sp>
        <p:nvSpPr>
          <p:cNvPr id="185" name="Google Shape;185;p8"/>
          <p:cNvSpPr/>
          <p:nvPr/>
        </p:nvSpPr>
        <p:spPr>
          <a:xfrm>
            <a:off x="5343525" y="3729038"/>
            <a:ext cx="1107281" cy="2714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667085"/>
              </a:buClr>
              <a:buSzPts val="800"/>
              <a:buFont typeface="Helvetica Neue"/>
              <a:buNone/>
            </a:pPr>
            <a:r>
              <a:rPr b="0" i="0" lang="en" sz="800">
                <a:solidFill>
                  <a:srgbClr val="667085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Optional metric request</a:t>
            </a:r>
            <a:endParaRPr sz="1100"/>
          </a:p>
        </p:txBody>
      </p:sp>
      <p:sp>
        <p:nvSpPr>
          <p:cNvPr id="186" name="Google Shape;186;p8"/>
          <p:cNvSpPr/>
          <p:nvPr/>
        </p:nvSpPr>
        <p:spPr>
          <a:xfrm>
            <a:off x="6557963" y="3729038"/>
            <a:ext cx="1243013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5172B"/>
              </a:buClr>
              <a:buSzPts val="800"/>
              <a:buFont typeface="Helvetica Neue"/>
              <a:buNone/>
            </a:pPr>
            <a:r>
              <a:rPr b="0" i="0" lang="en" sz="800">
                <a:solidFill>
                  <a:srgbClr val="15172B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Claim scope + separate ID/OOD</a:t>
            </a:r>
            <a:endParaRPr sz="1100"/>
          </a:p>
        </p:txBody>
      </p:sp>
      <p:sp>
        <p:nvSpPr>
          <p:cNvPr id="187" name="Google Shape;187;p8"/>
          <p:cNvSpPr/>
          <p:nvPr/>
        </p:nvSpPr>
        <p:spPr>
          <a:xfrm>
            <a:off x="7858125" y="3714750"/>
            <a:ext cx="642938" cy="214313"/>
          </a:xfrm>
          <a:prstGeom prst="roundRect">
            <a:avLst>
              <a:gd fmla="val 50000" name="adj"/>
            </a:avLst>
          </a:prstGeom>
          <a:solidFill>
            <a:srgbClr val="E7F6EF"/>
          </a:solidFill>
          <a:ln cap="flat" cmpd="sng" w="9525">
            <a:solidFill>
              <a:srgbClr val="E7F6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4300" lIns="57150" spcFirstLastPara="1" rIns="57150" wrap="square" tIns="28575">
            <a:noAutofit/>
          </a:bodyPr>
          <a:lstStyle/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2F9E75"/>
              </a:buClr>
              <a:buSzPts val="700"/>
              <a:buFont typeface="Helvetica Neue"/>
              <a:buNone/>
            </a:pPr>
            <a:r>
              <a:rPr b="1" i="0" lang="en" sz="700">
                <a:solidFill>
                  <a:srgbClr val="2F9E75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Refuted</a:t>
            </a:r>
            <a:endParaRPr sz="1100"/>
          </a:p>
        </p:txBody>
      </p:sp>
      <p:cxnSp>
        <p:nvCxnSpPr>
          <p:cNvPr id="188" name="Google Shape;188;p8"/>
          <p:cNvCxnSpPr/>
          <p:nvPr/>
        </p:nvCxnSpPr>
        <p:spPr>
          <a:xfrm>
            <a:off x="4429125" y="4029075"/>
            <a:ext cx="4071938" cy="0"/>
          </a:xfrm>
          <a:prstGeom prst="straightConnector1">
            <a:avLst/>
          </a:prstGeom>
          <a:noFill/>
          <a:ln cap="flat" cmpd="sng" w="9525">
            <a:solidFill>
              <a:srgbClr val="D9DCE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89" name="Google Shape;189;p8"/>
          <p:cNvSpPr/>
          <p:nvPr/>
        </p:nvSpPr>
        <p:spPr>
          <a:xfrm>
            <a:off x="4429125" y="4114800"/>
            <a:ext cx="642938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5172B"/>
              </a:buClr>
              <a:buSzPts val="900"/>
              <a:buFont typeface="Helvetica Neue"/>
              <a:buNone/>
            </a:pPr>
            <a:r>
              <a:rPr b="1" i="0" lang="en" sz="900">
                <a:solidFill>
                  <a:srgbClr val="15172B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F05</a:t>
            </a:r>
            <a:endParaRPr sz="1100"/>
          </a:p>
        </p:txBody>
      </p:sp>
      <p:sp>
        <p:nvSpPr>
          <p:cNvPr id="190" name="Google Shape;190;p8"/>
          <p:cNvSpPr/>
          <p:nvPr/>
        </p:nvSpPr>
        <p:spPr>
          <a:xfrm>
            <a:off x="5343525" y="4114800"/>
            <a:ext cx="1107281" cy="2714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667085"/>
              </a:buClr>
              <a:buSzPts val="800"/>
              <a:buFont typeface="Helvetica Neue"/>
              <a:buNone/>
            </a:pPr>
            <a:r>
              <a:rPr b="0" i="0" lang="en" sz="800">
                <a:solidFill>
                  <a:srgbClr val="667085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Figure says 2,409</a:t>
            </a:r>
            <a:endParaRPr sz="1100"/>
          </a:p>
        </p:txBody>
      </p:sp>
      <p:sp>
        <p:nvSpPr>
          <p:cNvPr id="191" name="Google Shape;191;p8"/>
          <p:cNvSpPr/>
          <p:nvPr/>
        </p:nvSpPr>
        <p:spPr>
          <a:xfrm>
            <a:off x="6557963" y="4114800"/>
            <a:ext cx="1243013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5172B"/>
              </a:buClr>
              <a:buSzPts val="800"/>
              <a:buFont typeface="Helvetica Neue"/>
              <a:buNone/>
            </a:pPr>
            <a:r>
              <a:rPr b="0" i="0" lang="en" sz="800">
                <a:solidFill>
                  <a:srgbClr val="15172B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70×69÷2 = 2,415</a:t>
            </a:r>
            <a:endParaRPr sz="1100"/>
          </a:p>
        </p:txBody>
      </p:sp>
      <p:sp>
        <p:nvSpPr>
          <p:cNvPr id="192" name="Google Shape;192;p8"/>
          <p:cNvSpPr/>
          <p:nvPr/>
        </p:nvSpPr>
        <p:spPr>
          <a:xfrm>
            <a:off x="7858125" y="4100513"/>
            <a:ext cx="642938" cy="214313"/>
          </a:xfrm>
          <a:prstGeom prst="roundRect">
            <a:avLst>
              <a:gd fmla="val 50000" name="adj"/>
            </a:avLst>
          </a:prstGeom>
          <a:solidFill>
            <a:srgbClr val="FDEBE9"/>
          </a:solidFill>
          <a:ln cap="flat" cmpd="sng" w="9525">
            <a:solidFill>
              <a:srgbClr val="FDEBE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4300" lIns="57150" spcFirstLastPara="1" rIns="57150" wrap="square" tIns="28575">
            <a:noAutofit/>
          </a:bodyPr>
          <a:lstStyle/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D85B51"/>
              </a:buClr>
              <a:buSzPts val="700"/>
              <a:buFont typeface="Helvetica Neue"/>
              <a:buNone/>
            </a:pPr>
            <a:r>
              <a:rPr b="1" i="0" lang="en" sz="700">
                <a:solidFill>
                  <a:srgbClr val="D85B5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Verified</a:t>
            </a:r>
            <a:endParaRPr sz="1100"/>
          </a:p>
        </p:txBody>
      </p:sp>
      <p:cxnSp>
        <p:nvCxnSpPr>
          <p:cNvPr id="193" name="Google Shape;193;p8"/>
          <p:cNvCxnSpPr/>
          <p:nvPr/>
        </p:nvCxnSpPr>
        <p:spPr>
          <a:xfrm>
            <a:off x="4429125" y="4414838"/>
            <a:ext cx="4071938" cy="0"/>
          </a:xfrm>
          <a:prstGeom prst="straightConnector1">
            <a:avLst/>
          </a:prstGeom>
          <a:noFill/>
          <a:ln cap="flat" cmpd="sng" w="9525">
            <a:solidFill>
              <a:srgbClr val="D9DCE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94" name="Google Shape;194;p8"/>
          <p:cNvSpPr/>
          <p:nvPr/>
        </p:nvSpPr>
        <p:spPr>
          <a:xfrm>
            <a:off x="8343900" y="4922044"/>
            <a:ext cx="342900" cy="142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6252CC"/>
              </a:buClr>
              <a:buSzPts val="700"/>
              <a:buFont typeface="Helvetica Neue"/>
              <a:buNone/>
            </a:pPr>
            <a:r>
              <a:rPr b="1" i="0" lang="en" sz="700">
                <a:solidFill>
                  <a:srgbClr val="6252CC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05</a:t>
            </a:r>
            <a:endParaRPr sz="11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7FB"/>
        </a:solidFill>
      </p:bgPr>
    </p:bg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9"/>
          <p:cNvSpPr/>
          <p:nvPr/>
        </p:nvSpPr>
        <p:spPr>
          <a:xfrm>
            <a:off x="457200" y="271463"/>
            <a:ext cx="5857875" cy="18573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6252CC"/>
              </a:buClr>
              <a:buSzPts val="800"/>
              <a:buFont typeface="Helvetica Neue"/>
              <a:buNone/>
            </a:pPr>
            <a:r>
              <a:rPr b="1" i="0" lang="en" sz="800">
                <a:solidFill>
                  <a:srgbClr val="6252CC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COUNTERFACTUAL VERIFIER</a:t>
            </a:r>
            <a:endParaRPr sz="1100"/>
          </a:p>
        </p:txBody>
      </p:sp>
      <p:sp>
        <p:nvSpPr>
          <p:cNvPr id="201" name="Google Shape;201;p9"/>
          <p:cNvSpPr/>
          <p:nvPr/>
        </p:nvSpPr>
        <p:spPr>
          <a:xfrm>
            <a:off x="457200" y="500063"/>
            <a:ext cx="8001000" cy="4714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5172B"/>
              </a:buClr>
              <a:buSzPts val="2100"/>
              <a:buFont typeface="Helvetica Neue"/>
              <a:buNone/>
            </a:pPr>
            <a:r>
              <a:rPr b="1" i="0" lang="en" sz="2100">
                <a:solidFill>
                  <a:srgbClr val="15172B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Counterfactual verification asks a causal question</a:t>
            </a:r>
            <a:endParaRPr sz="1100"/>
          </a:p>
        </p:txBody>
      </p:sp>
      <p:sp>
        <p:nvSpPr>
          <p:cNvPr id="202" name="Google Shape;202;p9"/>
          <p:cNvSpPr/>
          <p:nvPr/>
        </p:nvSpPr>
        <p:spPr>
          <a:xfrm>
            <a:off x="457200" y="1000125"/>
            <a:ext cx="8001000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667085"/>
              </a:buClr>
              <a:buSzPts val="1100"/>
              <a:buFont typeface="Helvetica Neue"/>
              <a:buNone/>
            </a:pPr>
            <a:r>
              <a:rPr b="0" i="0" lang="en" sz="1100">
                <a:solidFill>
                  <a:srgbClr val="667085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Does the verdict change for the relevant evidence change, while remaining stable under an unrelated edit?</a:t>
            </a:r>
            <a:endParaRPr sz="1100"/>
          </a:p>
        </p:txBody>
      </p:sp>
      <p:sp>
        <p:nvSpPr>
          <p:cNvPr id="203" name="Google Shape;203;p9"/>
          <p:cNvSpPr/>
          <p:nvPr/>
        </p:nvSpPr>
        <p:spPr>
          <a:xfrm>
            <a:off x="457200" y="1471613"/>
            <a:ext cx="6572250" cy="2143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5172B"/>
              </a:buClr>
              <a:buSzPts val="1100"/>
              <a:buFont typeface="Helvetica Neue"/>
              <a:buNone/>
            </a:pPr>
            <a:r>
              <a:rPr b="1" i="0" lang="en" sz="1100">
                <a:solidFill>
                  <a:srgbClr val="15172B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Example · alleged absence of label-free and non-Transformer evidence</a:t>
            </a:r>
            <a:endParaRPr sz="1100"/>
          </a:p>
        </p:txBody>
      </p:sp>
      <p:sp>
        <p:nvSpPr>
          <p:cNvPr id="204" name="Google Shape;204;p9"/>
          <p:cNvSpPr/>
          <p:nvPr/>
        </p:nvSpPr>
        <p:spPr>
          <a:xfrm>
            <a:off x="457200" y="1800225"/>
            <a:ext cx="1214438" cy="214313"/>
          </a:xfrm>
          <a:prstGeom prst="roundRect">
            <a:avLst>
              <a:gd fmla="val 50000" name="adj"/>
            </a:avLst>
          </a:prstGeom>
          <a:solidFill>
            <a:srgbClr val="EAE6FF"/>
          </a:solidFill>
          <a:ln cap="flat" cmpd="sng" w="9525">
            <a:solidFill>
              <a:srgbClr val="EAE6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4300" lIns="57150" spcFirstLastPara="1" rIns="57150" wrap="square" tIns="28575">
            <a:noAutofit/>
          </a:bodyPr>
          <a:lstStyle/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6252CC"/>
              </a:buClr>
              <a:buSzPts val="700"/>
              <a:buFont typeface="Helvetica Neue"/>
              <a:buNone/>
            </a:pPr>
            <a:r>
              <a:rPr b="1" i="0" lang="en" sz="700">
                <a:solidFill>
                  <a:srgbClr val="6252CC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BASELINE</a:t>
            </a:r>
            <a:endParaRPr sz="1100"/>
          </a:p>
        </p:txBody>
      </p:sp>
      <p:sp>
        <p:nvSpPr>
          <p:cNvPr id="205" name="Google Shape;205;p9"/>
          <p:cNvSpPr/>
          <p:nvPr/>
        </p:nvSpPr>
        <p:spPr>
          <a:xfrm>
            <a:off x="457200" y="2114550"/>
            <a:ext cx="2357438" cy="942975"/>
          </a:xfrm>
          <a:prstGeom prst="roundRect">
            <a:avLst>
              <a:gd fmla="val 10606" name="adj"/>
            </a:avLst>
          </a:prstGeom>
          <a:solidFill>
            <a:srgbClr val="FFFFFF"/>
          </a:solidFill>
          <a:ln cap="flat" cmpd="sng" w="14275">
            <a:solidFill>
              <a:srgbClr val="6252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" name="Google Shape;206;p9"/>
          <p:cNvSpPr/>
          <p:nvPr/>
        </p:nvSpPr>
        <p:spPr>
          <a:xfrm>
            <a:off x="571500" y="2214563"/>
            <a:ext cx="2128838" cy="2143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6252CC"/>
              </a:buClr>
              <a:buSzPts val="1100"/>
              <a:buFont typeface="Helvetica Neue"/>
              <a:buNone/>
            </a:pPr>
            <a:r>
              <a:rPr b="1" i="0" lang="en" sz="1100">
                <a:solidFill>
                  <a:srgbClr val="6252CC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Full evidence present</a:t>
            </a:r>
            <a:endParaRPr sz="1100"/>
          </a:p>
        </p:txBody>
      </p:sp>
      <p:sp>
        <p:nvSpPr>
          <p:cNvPr id="207" name="Google Shape;207;p9"/>
          <p:cNvSpPr/>
          <p:nvPr/>
        </p:nvSpPr>
        <p:spPr>
          <a:xfrm>
            <a:off x="571500" y="2450306"/>
            <a:ext cx="2128838" cy="542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667085"/>
              </a:buClr>
              <a:buSzPts val="1000"/>
              <a:buFont typeface="Helvetica Neue"/>
              <a:buNone/>
            </a:pPr>
            <a:r>
              <a:rPr b="0" i="0" lang="en" sz="1000">
                <a:solidFill>
                  <a:srgbClr val="667085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ERank-MonoSoup</a:t>
            </a:r>
            <a:endParaRPr sz="1100"/>
          </a:p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667085"/>
              </a:buClr>
              <a:buSzPts val="1000"/>
              <a:buFont typeface="Helvetica Neue"/>
              <a:buNone/>
            </a:pPr>
            <a:r>
              <a:rPr b="0" i="0" lang="en" sz="1000">
                <a:solidFill>
                  <a:srgbClr val="667085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ConvNeXt</a:t>
            </a:r>
            <a:endParaRPr sz="1100"/>
          </a:p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667085"/>
              </a:buClr>
              <a:buSzPts val="1000"/>
              <a:buFont typeface="Helvetica Neue"/>
              <a:buNone/>
            </a:pPr>
            <a:r>
              <a:rPr b="0" i="0" lang="en" sz="1000">
                <a:solidFill>
                  <a:srgbClr val="667085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R-sensitivity</a:t>
            </a:r>
            <a:endParaRPr sz="1100"/>
          </a:p>
        </p:txBody>
      </p:sp>
      <p:sp>
        <p:nvSpPr>
          <p:cNvPr id="208" name="Google Shape;208;p9"/>
          <p:cNvSpPr/>
          <p:nvPr/>
        </p:nvSpPr>
        <p:spPr>
          <a:xfrm>
            <a:off x="600075" y="3214700"/>
            <a:ext cx="2100300" cy="214200"/>
          </a:xfrm>
          <a:prstGeom prst="roundRect">
            <a:avLst>
              <a:gd fmla="val 50000" name="adj"/>
            </a:avLst>
          </a:prstGeom>
          <a:solidFill>
            <a:srgbClr val="EAE6FF"/>
          </a:solidFill>
          <a:ln cap="flat" cmpd="sng" w="9525">
            <a:solidFill>
              <a:srgbClr val="EAE6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4300" lIns="57150" spcFirstLastPara="1" rIns="57150" wrap="square" tIns="28575">
            <a:noAutofit/>
          </a:bodyPr>
          <a:lstStyle/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6252CC"/>
              </a:buClr>
              <a:buSzPts val="700"/>
              <a:buFont typeface="Helvetica Neue"/>
              <a:buNone/>
            </a:pPr>
            <a:r>
              <a:rPr b="1" lang="en" sz="700">
                <a:solidFill>
                  <a:srgbClr val="6252CC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Reviewer comments evidence is insufficient.</a:t>
            </a:r>
            <a:endParaRPr sz="1100"/>
          </a:p>
        </p:txBody>
      </p:sp>
      <p:sp>
        <p:nvSpPr>
          <p:cNvPr id="209" name="Google Shape;209;p9"/>
          <p:cNvSpPr/>
          <p:nvPr/>
        </p:nvSpPr>
        <p:spPr>
          <a:xfrm>
            <a:off x="3186113" y="1800225"/>
            <a:ext cx="1500188" cy="214313"/>
          </a:xfrm>
          <a:prstGeom prst="roundRect">
            <a:avLst>
              <a:gd fmla="val 50000" name="adj"/>
            </a:avLst>
          </a:prstGeom>
          <a:solidFill>
            <a:srgbClr val="FDEBE9"/>
          </a:solidFill>
          <a:ln cap="flat" cmpd="sng" w="9525">
            <a:solidFill>
              <a:srgbClr val="FDEBE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4300" lIns="57150" spcFirstLastPara="1" rIns="57150" wrap="square" tIns="28575">
            <a:noAutofit/>
          </a:bodyPr>
          <a:lstStyle/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D85B51"/>
              </a:buClr>
              <a:buSzPts val="700"/>
              <a:buFont typeface="Helvetica Neue"/>
              <a:buNone/>
            </a:pPr>
            <a:r>
              <a:rPr b="1" i="0" lang="en" sz="700">
                <a:solidFill>
                  <a:srgbClr val="D85B5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TARGETED </a:t>
            </a:r>
            <a:r>
              <a:rPr b="1" lang="en" sz="700">
                <a:solidFill>
                  <a:srgbClr val="D85B5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MUTATION</a:t>
            </a:r>
            <a:endParaRPr sz="1100"/>
          </a:p>
        </p:txBody>
      </p:sp>
      <p:sp>
        <p:nvSpPr>
          <p:cNvPr id="210" name="Google Shape;210;p9"/>
          <p:cNvSpPr/>
          <p:nvPr/>
        </p:nvSpPr>
        <p:spPr>
          <a:xfrm>
            <a:off x="3186113" y="2114550"/>
            <a:ext cx="2357438" cy="942975"/>
          </a:xfrm>
          <a:prstGeom prst="roundRect">
            <a:avLst>
              <a:gd fmla="val 10606" name="adj"/>
            </a:avLst>
          </a:prstGeom>
          <a:solidFill>
            <a:srgbClr val="FFFFFF"/>
          </a:solidFill>
          <a:ln cap="flat" cmpd="sng" w="14275">
            <a:solidFill>
              <a:srgbClr val="D85B5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p9"/>
          <p:cNvSpPr/>
          <p:nvPr/>
        </p:nvSpPr>
        <p:spPr>
          <a:xfrm>
            <a:off x="3300413" y="2214563"/>
            <a:ext cx="2128838" cy="2143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D85B51"/>
              </a:buClr>
              <a:buSzPts val="1100"/>
              <a:buFont typeface="Helvetica Neue"/>
              <a:buNone/>
            </a:pPr>
            <a:r>
              <a:rPr b="1" lang="en" sz="1100">
                <a:solidFill>
                  <a:srgbClr val="D85B5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Introduce</a:t>
            </a:r>
            <a:r>
              <a:rPr b="1" i="0" lang="en" sz="1100">
                <a:solidFill>
                  <a:srgbClr val="D85B5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relevant evidence</a:t>
            </a:r>
            <a:endParaRPr sz="1100"/>
          </a:p>
        </p:txBody>
      </p:sp>
      <p:sp>
        <p:nvSpPr>
          <p:cNvPr id="212" name="Google Shape;212;p9"/>
          <p:cNvSpPr/>
          <p:nvPr/>
        </p:nvSpPr>
        <p:spPr>
          <a:xfrm>
            <a:off x="3300413" y="2450306"/>
            <a:ext cx="2128838" cy="542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667085"/>
              </a:buClr>
              <a:buSzPts val="1000"/>
              <a:buFont typeface="Helvetica Neue"/>
              <a:buNone/>
            </a:pPr>
            <a:r>
              <a:rPr lang="en" sz="1000">
                <a:solidFill>
                  <a:srgbClr val="667085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Add label-free and non-Transformer evidence</a:t>
            </a:r>
            <a:endParaRPr sz="1100"/>
          </a:p>
        </p:txBody>
      </p:sp>
      <p:sp>
        <p:nvSpPr>
          <p:cNvPr id="213" name="Google Shape;213;p9"/>
          <p:cNvSpPr/>
          <p:nvPr/>
        </p:nvSpPr>
        <p:spPr>
          <a:xfrm>
            <a:off x="3329002" y="3214700"/>
            <a:ext cx="2128800" cy="214200"/>
          </a:xfrm>
          <a:prstGeom prst="roundRect">
            <a:avLst>
              <a:gd fmla="val 50000" name="adj"/>
            </a:avLst>
          </a:prstGeom>
          <a:solidFill>
            <a:srgbClr val="FDEBE9"/>
          </a:solidFill>
          <a:ln cap="flat" cmpd="sng" w="9525">
            <a:solidFill>
              <a:srgbClr val="FDEBE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4300" lIns="57150" spcFirstLastPara="1" rIns="57150" wrap="square" tIns="28575">
            <a:noAutofit/>
          </a:bodyPr>
          <a:lstStyle/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D85B51"/>
              </a:buClr>
              <a:buSzPts val="700"/>
              <a:buFont typeface="Helvetica Neue"/>
              <a:buNone/>
            </a:pPr>
            <a:r>
              <a:rPr b="1" lang="en" sz="700">
                <a:solidFill>
                  <a:srgbClr val="D85B5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Reviewer comments evidence is sufficient.</a:t>
            </a:r>
            <a:endParaRPr sz="1100"/>
          </a:p>
        </p:txBody>
      </p:sp>
      <p:sp>
        <p:nvSpPr>
          <p:cNvPr id="214" name="Google Shape;214;p9"/>
          <p:cNvSpPr/>
          <p:nvPr/>
        </p:nvSpPr>
        <p:spPr>
          <a:xfrm>
            <a:off x="5915025" y="1800225"/>
            <a:ext cx="1214438" cy="214313"/>
          </a:xfrm>
          <a:prstGeom prst="roundRect">
            <a:avLst>
              <a:gd fmla="val 50000" name="adj"/>
            </a:avLst>
          </a:prstGeom>
          <a:solidFill>
            <a:srgbClr val="E9F2FB"/>
          </a:solidFill>
          <a:ln cap="flat" cmpd="sng" w="9525">
            <a:solidFill>
              <a:srgbClr val="E9F2F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4300" lIns="57150" spcFirstLastPara="1" rIns="57150" wrap="square" tIns="28575">
            <a:noAutofit/>
          </a:bodyPr>
          <a:lstStyle/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3578B8"/>
              </a:buClr>
              <a:buSzPts val="700"/>
              <a:buFont typeface="Helvetica Neue"/>
              <a:buNone/>
            </a:pPr>
            <a:r>
              <a:rPr b="1" i="0" lang="en" sz="700">
                <a:solidFill>
                  <a:srgbClr val="3578B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UNRELATED CONTROL</a:t>
            </a:r>
            <a:endParaRPr sz="1100"/>
          </a:p>
        </p:txBody>
      </p:sp>
      <p:sp>
        <p:nvSpPr>
          <p:cNvPr id="215" name="Google Shape;215;p9"/>
          <p:cNvSpPr/>
          <p:nvPr/>
        </p:nvSpPr>
        <p:spPr>
          <a:xfrm>
            <a:off x="5915025" y="2114550"/>
            <a:ext cx="2357438" cy="942975"/>
          </a:xfrm>
          <a:prstGeom prst="roundRect">
            <a:avLst>
              <a:gd fmla="val 10606" name="adj"/>
            </a:avLst>
          </a:prstGeom>
          <a:solidFill>
            <a:srgbClr val="FFFFFF"/>
          </a:solidFill>
          <a:ln cap="flat" cmpd="sng" w="14275">
            <a:solidFill>
              <a:srgbClr val="3578B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" name="Google Shape;216;p9"/>
          <p:cNvSpPr/>
          <p:nvPr/>
        </p:nvSpPr>
        <p:spPr>
          <a:xfrm>
            <a:off x="6029325" y="2214563"/>
            <a:ext cx="2128838" cy="2143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3578B8"/>
              </a:buClr>
              <a:buSzPts val="1100"/>
              <a:buFont typeface="Helvetica Neue"/>
              <a:buNone/>
            </a:pPr>
            <a:r>
              <a:rPr b="1" i="0" lang="en" sz="1100">
                <a:solidFill>
                  <a:srgbClr val="3578B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Hide an unrelated result</a:t>
            </a:r>
            <a:endParaRPr sz="1100"/>
          </a:p>
        </p:txBody>
      </p:sp>
      <p:sp>
        <p:nvSpPr>
          <p:cNvPr id="217" name="Google Shape;217;p9"/>
          <p:cNvSpPr/>
          <p:nvPr/>
        </p:nvSpPr>
        <p:spPr>
          <a:xfrm>
            <a:off x="6029325" y="2450306"/>
            <a:ext cx="2128838" cy="542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667085"/>
              </a:buClr>
              <a:buSzPts val="1000"/>
              <a:buFont typeface="Helvetica Neue"/>
              <a:buNone/>
            </a:pPr>
            <a:r>
              <a:rPr b="0" i="0" lang="en" sz="1000">
                <a:solidFill>
                  <a:srgbClr val="667085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Relevant evidence</a:t>
            </a:r>
            <a:endParaRPr sz="1100"/>
          </a:p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667085"/>
              </a:buClr>
              <a:buSzPts val="1000"/>
              <a:buFont typeface="Helvetica Neue"/>
              <a:buNone/>
            </a:pPr>
            <a:r>
              <a:rPr b="0" i="0" lang="en" sz="1000">
                <a:solidFill>
                  <a:srgbClr val="667085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remains present</a:t>
            </a:r>
            <a:endParaRPr sz="1100"/>
          </a:p>
        </p:txBody>
      </p:sp>
      <p:sp>
        <p:nvSpPr>
          <p:cNvPr id="218" name="Google Shape;218;p9"/>
          <p:cNvSpPr/>
          <p:nvPr/>
        </p:nvSpPr>
        <p:spPr>
          <a:xfrm>
            <a:off x="6057900" y="3214700"/>
            <a:ext cx="2214600" cy="214200"/>
          </a:xfrm>
          <a:prstGeom prst="roundRect">
            <a:avLst>
              <a:gd fmla="val 50000" name="adj"/>
            </a:avLst>
          </a:prstGeom>
          <a:solidFill>
            <a:srgbClr val="E9F2FB"/>
          </a:solidFill>
          <a:ln cap="flat" cmpd="sng" w="9525">
            <a:solidFill>
              <a:srgbClr val="E9F2F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4300" lIns="57150" spcFirstLastPara="1" rIns="57150" wrap="square" tIns="28575">
            <a:noAutofit/>
          </a:bodyPr>
          <a:lstStyle/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3578B8"/>
              </a:buClr>
              <a:buSzPts val="700"/>
              <a:buFont typeface="Helvetica Neue"/>
              <a:buNone/>
            </a:pPr>
            <a:r>
              <a:rPr b="1" lang="en" sz="700">
                <a:solidFill>
                  <a:srgbClr val="3578B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Reviewer</a:t>
            </a:r>
            <a:r>
              <a:rPr b="1" lang="en" sz="700">
                <a:solidFill>
                  <a:srgbClr val="3578B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comments evidence is sufficient.</a:t>
            </a:r>
            <a:endParaRPr sz="1100"/>
          </a:p>
        </p:txBody>
      </p:sp>
      <p:cxnSp>
        <p:nvCxnSpPr>
          <p:cNvPr id="219" name="Google Shape;219;p9"/>
          <p:cNvCxnSpPr/>
          <p:nvPr/>
        </p:nvCxnSpPr>
        <p:spPr>
          <a:xfrm>
            <a:off x="457200" y="3643313"/>
            <a:ext cx="7815263" cy="0"/>
          </a:xfrm>
          <a:prstGeom prst="straightConnector1">
            <a:avLst/>
          </a:prstGeom>
          <a:noFill/>
          <a:ln cap="flat" cmpd="sng" w="9525">
            <a:solidFill>
              <a:srgbClr val="D9DCE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20" name="Google Shape;220;p9"/>
          <p:cNvSpPr/>
          <p:nvPr/>
        </p:nvSpPr>
        <p:spPr>
          <a:xfrm>
            <a:off x="457200" y="3829050"/>
            <a:ext cx="85725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2F9E75"/>
              </a:buClr>
              <a:buSzPts val="800"/>
              <a:buFont typeface="Helvetica Neue"/>
              <a:buNone/>
            </a:pPr>
            <a:r>
              <a:rPr b="1" i="0" lang="en" sz="800">
                <a:solidFill>
                  <a:srgbClr val="2F9E75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Pass rule</a:t>
            </a:r>
            <a:endParaRPr sz="1100"/>
          </a:p>
        </p:txBody>
      </p:sp>
      <p:sp>
        <p:nvSpPr>
          <p:cNvPr id="221" name="Google Shape;221;p9"/>
          <p:cNvSpPr/>
          <p:nvPr/>
        </p:nvSpPr>
        <p:spPr>
          <a:xfrm>
            <a:off x="1285875" y="3786188"/>
            <a:ext cx="6986588" cy="3571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5172B"/>
              </a:buClr>
              <a:buSzPts val="1100"/>
              <a:buFont typeface="Helvetica Neue"/>
              <a:buNone/>
            </a:pPr>
            <a:r>
              <a:rPr b="1" i="0" lang="en" sz="1100">
                <a:solidFill>
                  <a:srgbClr val="15172B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The </a:t>
            </a:r>
            <a:r>
              <a:rPr b="1" lang="en" sz="1100">
                <a:solidFill>
                  <a:srgbClr val="15172B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comment should flip with a targeted mutation, and should remain consistent under an unrelated control. </a:t>
            </a:r>
            <a:endParaRPr sz="1100"/>
          </a:p>
        </p:txBody>
      </p:sp>
      <p:sp>
        <p:nvSpPr>
          <p:cNvPr id="222" name="Google Shape;222;p9"/>
          <p:cNvSpPr/>
          <p:nvPr/>
        </p:nvSpPr>
        <p:spPr>
          <a:xfrm>
            <a:off x="457200" y="4286250"/>
            <a:ext cx="7815263" cy="385763"/>
          </a:xfrm>
          <a:prstGeom prst="roundRect">
            <a:avLst>
              <a:gd fmla="val 22222" name="adj"/>
            </a:avLst>
          </a:prstGeom>
          <a:solidFill>
            <a:srgbClr val="FDEBE9"/>
          </a:solidFill>
          <a:ln cap="flat" cmpd="sng" w="9525">
            <a:solidFill>
              <a:srgbClr val="D85B5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" name="Google Shape;223;p9"/>
          <p:cNvSpPr/>
          <p:nvPr/>
        </p:nvSpPr>
        <p:spPr>
          <a:xfrm>
            <a:off x="614363" y="4393406"/>
            <a:ext cx="748665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2F9E75"/>
              </a:buClr>
              <a:buSzPts val="1100"/>
              <a:buFont typeface="Helvetica Neue"/>
              <a:buNone/>
            </a:pPr>
            <a:r>
              <a:rPr b="1" i="0" lang="en" sz="1100">
                <a:solidFill>
                  <a:srgbClr val="D85B5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Result: counterfactual verification </a:t>
            </a:r>
            <a:r>
              <a:rPr b="1" lang="en" sz="1100">
                <a:solidFill>
                  <a:srgbClr val="D85B5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fails</a:t>
            </a:r>
            <a:r>
              <a:rPr b="1" i="0" lang="en" sz="1100">
                <a:solidFill>
                  <a:srgbClr val="D85B5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. The original categorical critique </a:t>
            </a:r>
            <a:r>
              <a:rPr b="1" lang="en" sz="1100">
                <a:solidFill>
                  <a:srgbClr val="D85B5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is</a:t>
            </a:r>
            <a:r>
              <a:rPr b="1" i="0" lang="en" sz="1100">
                <a:solidFill>
                  <a:srgbClr val="D85B5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Refuted.</a:t>
            </a:r>
            <a:endParaRPr sz="1100">
              <a:solidFill>
                <a:srgbClr val="D85B51"/>
              </a:solidFill>
            </a:endParaRPr>
          </a:p>
        </p:txBody>
      </p:sp>
      <p:sp>
        <p:nvSpPr>
          <p:cNvPr id="224" name="Google Shape;224;p9"/>
          <p:cNvSpPr/>
          <p:nvPr/>
        </p:nvSpPr>
        <p:spPr>
          <a:xfrm>
            <a:off x="8343900" y="4922044"/>
            <a:ext cx="342900" cy="142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6252CC"/>
              </a:buClr>
              <a:buSzPts val="700"/>
              <a:buFont typeface="Helvetica Neue"/>
              <a:buNone/>
            </a:pPr>
            <a:r>
              <a:rPr b="1" i="0" lang="en" sz="700">
                <a:solidFill>
                  <a:srgbClr val="6252CC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06</a:t>
            </a:r>
            <a:endParaRPr sz="1100"/>
          </a:p>
        </p:txBody>
      </p:sp>
      <p:sp>
        <p:nvSpPr>
          <p:cNvPr id="225" name="Google Shape;225;p9"/>
          <p:cNvSpPr txBox="1"/>
          <p:nvPr/>
        </p:nvSpPr>
        <p:spPr>
          <a:xfrm>
            <a:off x="2180425" y="4483250"/>
            <a:ext cx="2203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7FB"/>
        </a:solidFill>
      </p:bgPr>
    </p:bg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10"/>
          <p:cNvSpPr/>
          <p:nvPr/>
        </p:nvSpPr>
        <p:spPr>
          <a:xfrm>
            <a:off x="457200" y="271463"/>
            <a:ext cx="5857875" cy="18573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6252CC"/>
              </a:buClr>
              <a:buSzPts val="800"/>
              <a:buFont typeface="Helvetica Neue"/>
              <a:buNone/>
            </a:pPr>
            <a:r>
              <a:rPr b="1" i="0" lang="en" sz="800">
                <a:solidFill>
                  <a:srgbClr val="6252CC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EVALUATION AND LIMITS</a:t>
            </a:r>
            <a:endParaRPr sz="1100"/>
          </a:p>
        </p:txBody>
      </p:sp>
      <p:sp>
        <p:nvSpPr>
          <p:cNvPr id="232" name="Google Shape;232;p10"/>
          <p:cNvSpPr/>
          <p:nvPr/>
        </p:nvSpPr>
        <p:spPr>
          <a:xfrm>
            <a:off x="457200" y="500063"/>
            <a:ext cx="8001000" cy="4714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5172B"/>
              </a:buClr>
              <a:buSzPts val="2100"/>
              <a:buFont typeface="Helvetica Neue"/>
              <a:buNone/>
            </a:pPr>
            <a:r>
              <a:rPr b="1" lang="en" sz="2100">
                <a:solidFill>
                  <a:srgbClr val="15172B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Human-in-the-loop evaluation is needed for robustness and personalization</a:t>
            </a:r>
            <a:endParaRPr sz="1100"/>
          </a:p>
        </p:txBody>
      </p:sp>
      <p:sp>
        <p:nvSpPr>
          <p:cNvPr id="233" name="Google Shape;233;p10"/>
          <p:cNvSpPr/>
          <p:nvPr/>
        </p:nvSpPr>
        <p:spPr>
          <a:xfrm>
            <a:off x="457200" y="1316625"/>
            <a:ext cx="8001000" cy="3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667085"/>
              </a:buClr>
              <a:buSzPts val="1100"/>
              <a:buFont typeface="Helvetica Neue"/>
              <a:buNone/>
            </a:pPr>
            <a:r>
              <a:rPr b="0" i="0" lang="en" sz="1100">
                <a:solidFill>
                  <a:srgbClr val="667085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We need finding-level labels, controlled interventions and baselines that isolate the value of each defender stage.</a:t>
            </a:r>
            <a:endParaRPr sz="1100"/>
          </a:p>
        </p:txBody>
      </p:sp>
      <p:sp>
        <p:nvSpPr>
          <p:cNvPr id="234" name="Google Shape;234;p10"/>
          <p:cNvSpPr/>
          <p:nvPr/>
        </p:nvSpPr>
        <p:spPr>
          <a:xfrm>
            <a:off x="457200" y="1670288"/>
            <a:ext cx="2143200" cy="21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5172B"/>
              </a:buClr>
              <a:buSzPts val="1300"/>
              <a:buFont typeface="Helvetica Neue"/>
              <a:buNone/>
            </a:pPr>
            <a:r>
              <a:rPr b="1" i="0" lang="en" sz="1300">
                <a:solidFill>
                  <a:srgbClr val="15172B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Evaluation design</a:t>
            </a:r>
            <a:endParaRPr sz="1100"/>
          </a:p>
        </p:txBody>
      </p:sp>
      <p:sp>
        <p:nvSpPr>
          <p:cNvPr id="235" name="Google Shape;235;p10"/>
          <p:cNvSpPr/>
          <p:nvPr/>
        </p:nvSpPr>
        <p:spPr>
          <a:xfrm>
            <a:off x="457200" y="2013188"/>
            <a:ext cx="1643100" cy="585900"/>
          </a:xfrm>
          <a:prstGeom prst="roundRect">
            <a:avLst>
              <a:gd fmla="val 17073" name="adj"/>
            </a:avLst>
          </a:prstGeom>
          <a:solidFill>
            <a:srgbClr val="FFFFFF"/>
          </a:solidFill>
          <a:ln cap="flat" cmpd="sng" w="14275">
            <a:solidFill>
              <a:srgbClr val="D9DC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6" name="Google Shape;236;p10"/>
          <p:cNvSpPr/>
          <p:nvPr/>
        </p:nvSpPr>
        <p:spPr>
          <a:xfrm>
            <a:off x="571500" y="2113200"/>
            <a:ext cx="1414500" cy="21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5172B"/>
              </a:buClr>
              <a:buSzPts val="900"/>
              <a:buFont typeface="Helvetica Neue"/>
              <a:buNone/>
            </a:pPr>
            <a:r>
              <a:rPr b="1" i="0" lang="en" sz="900">
                <a:solidFill>
                  <a:srgbClr val="15172B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Single LLM reviewer</a:t>
            </a:r>
            <a:endParaRPr sz="1100"/>
          </a:p>
        </p:txBody>
      </p:sp>
      <p:sp>
        <p:nvSpPr>
          <p:cNvPr id="237" name="Google Shape;237;p10"/>
          <p:cNvSpPr/>
          <p:nvPr/>
        </p:nvSpPr>
        <p:spPr>
          <a:xfrm>
            <a:off x="571500" y="2348944"/>
            <a:ext cx="1414500" cy="18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667085"/>
              </a:buClr>
              <a:buSzPts val="700"/>
              <a:buFont typeface="Helvetica Neue"/>
              <a:buNone/>
            </a:pPr>
            <a:r>
              <a:rPr b="0" i="0" lang="en" sz="700">
                <a:solidFill>
                  <a:srgbClr val="667085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Ablation baseline</a:t>
            </a:r>
            <a:endParaRPr sz="1100"/>
          </a:p>
        </p:txBody>
      </p:sp>
      <p:sp>
        <p:nvSpPr>
          <p:cNvPr id="238" name="Google Shape;238;p10"/>
          <p:cNvSpPr/>
          <p:nvPr/>
        </p:nvSpPr>
        <p:spPr>
          <a:xfrm>
            <a:off x="2428875" y="2013188"/>
            <a:ext cx="1643100" cy="585900"/>
          </a:xfrm>
          <a:prstGeom prst="roundRect">
            <a:avLst>
              <a:gd fmla="val 17073" name="adj"/>
            </a:avLst>
          </a:prstGeom>
          <a:solidFill>
            <a:srgbClr val="FFFFFF"/>
          </a:solidFill>
          <a:ln cap="flat" cmpd="sng" w="14275">
            <a:solidFill>
              <a:srgbClr val="D9DC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9" name="Google Shape;239;p10"/>
          <p:cNvSpPr/>
          <p:nvPr/>
        </p:nvSpPr>
        <p:spPr>
          <a:xfrm>
            <a:off x="2543175" y="2113200"/>
            <a:ext cx="1414500" cy="21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5172B"/>
              </a:buClr>
              <a:buSzPts val="900"/>
              <a:buFont typeface="Helvetica Neue"/>
              <a:buNone/>
            </a:pPr>
            <a:r>
              <a:rPr b="1" i="0" lang="en" sz="900">
                <a:solidFill>
                  <a:srgbClr val="15172B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Reviewer MAS</a:t>
            </a:r>
            <a:endParaRPr sz="1100"/>
          </a:p>
        </p:txBody>
      </p:sp>
      <p:sp>
        <p:nvSpPr>
          <p:cNvPr id="240" name="Google Shape;240;p10"/>
          <p:cNvSpPr/>
          <p:nvPr/>
        </p:nvSpPr>
        <p:spPr>
          <a:xfrm>
            <a:off x="2543175" y="2348944"/>
            <a:ext cx="1414500" cy="18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667085"/>
              </a:buClr>
              <a:buSzPts val="700"/>
              <a:buFont typeface="Helvetica Neue"/>
              <a:buNone/>
            </a:pPr>
            <a:r>
              <a:rPr b="0" i="0" lang="en" sz="700">
                <a:solidFill>
                  <a:srgbClr val="667085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Ablation baseline</a:t>
            </a:r>
            <a:endParaRPr sz="1100"/>
          </a:p>
        </p:txBody>
      </p:sp>
      <p:cxnSp>
        <p:nvCxnSpPr>
          <p:cNvPr id="241" name="Google Shape;241;p10"/>
          <p:cNvCxnSpPr>
            <a:stCxn id="235" idx="3"/>
            <a:endCxn id="238" idx="1"/>
          </p:cNvCxnSpPr>
          <p:nvPr/>
        </p:nvCxnSpPr>
        <p:spPr>
          <a:xfrm>
            <a:off x="2100300" y="2306138"/>
            <a:ext cx="328500" cy="0"/>
          </a:xfrm>
          <a:prstGeom prst="straightConnector1">
            <a:avLst/>
          </a:prstGeom>
          <a:noFill/>
          <a:ln cap="flat" cmpd="sng" w="19050">
            <a:solidFill>
              <a:srgbClr val="D9DCE8"/>
            </a:solidFill>
            <a:prstDash val="solid"/>
            <a:round/>
            <a:headEnd len="sm" w="sm" type="none"/>
            <a:tailEnd len="sm" w="sm" type="triangle"/>
          </a:ln>
        </p:spPr>
      </p:cxnSp>
      <p:sp>
        <p:nvSpPr>
          <p:cNvPr id="242" name="Google Shape;242;p10"/>
          <p:cNvSpPr/>
          <p:nvPr/>
        </p:nvSpPr>
        <p:spPr>
          <a:xfrm>
            <a:off x="4400550" y="2013188"/>
            <a:ext cx="1643100" cy="585900"/>
          </a:xfrm>
          <a:prstGeom prst="roundRect">
            <a:avLst>
              <a:gd fmla="val 17073" name="adj"/>
            </a:avLst>
          </a:prstGeom>
          <a:solidFill>
            <a:srgbClr val="FFFFFF"/>
          </a:solidFill>
          <a:ln cap="flat" cmpd="sng" w="14275">
            <a:solidFill>
              <a:srgbClr val="D9DC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3" name="Google Shape;243;p10"/>
          <p:cNvSpPr/>
          <p:nvPr/>
        </p:nvSpPr>
        <p:spPr>
          <a:xfrm>
            <a:off x="4514850" y="2113200"/>
            <a:ext cx="1414500" cy="21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5172B"/>
              </a:buClr>
              <a:buSzPts val="900"/>
              <a:buFont typeface="Helvetica Neue"/>
              <a:buNone/>
            </a:pPr>
            <a:r>
              <a:rPr b="1" i="0" lang="en" sz="900">
                <a:solidFill>
                  <a:srgbClr val="15172B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+ evidence defender</a:t>
            </a:r>
            <a:endParaRPr sz="1100"/>
          </a:p>
        </p:txBody>
      </p:sp>
      <p:sp>
        <p:nvSpPr>
          <p:cNvPr id="244" name="Google Shape;244;p10"/>
          <p:cNvSpPr/>
          <p:nvPr/>
        </p:nvSpPr>
        <p:spPr>
          <a:xfrm>
            <a:off x="4514850" y="2348944"/>
            <a:ext cx="1414500" cy="18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667085"/>
              </a:buClr>
              <a:buSzPts val="700"/>
              <a:buFont typeface="Helvetica Neue"/>
              <a:buNone/>
            </a:pPr>
            <a:r>
              <a:rPr b="0" i="0" lang="en" sz="700">
                <a:solidFill>
                  <a:srgbClr val="667085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Ablation baseline</a:t>
            </a:r>
            <a:endParaRPr sz="1100"/>
          </a:p>
        </p:txBody>
      </p:sp>
      <p:cxnSp>
        <p:nvCxnSpPr>
          <p:cNvPr id="245" name="Google Shape;245;p10"/>
          <p:cNvCxnSpPr>
            <a:stCxn id="238" idx="3"/>
            <a:endCxn id="242" idx="1"/>
          </p:cNvCxnSpPr>
          <p:nvPr/>
        </p:nvCxnSpPr>
        <p:spPr>
          <a:xfrm>
            <a:off x="4071975" y="2306138"/>
            <a:ext cx="328500" cy="0"/>
          </a:xfrm>
          <a:prstGeom prst="straightConnector1">
            <a:avLst/>
          </a:prstGeom>
          <a:noFill/>
          <a:ln cap="flat" cmpd="sng" w="19050">
            <a:solidFill>
              <a:srgbClr val="D9DCE8"/>
            </a:solidFill>
            <a:prstDash val="solid"/>
            <a:round/>
            <a:headEnd len="sm" w="sm" type="none"/>
            <a:tailEnd len="sm" w="sm" type="triangle"/>
          </a:ln>
        </p:spPr>
      </p:cxnSp>
      <p:sp>
        <p:nvSpPr>
          <p:cNvPr id="246" name="Google Shape;246;p10"/>
          <p:cNvSpPr/>
          <p:nvPr/>
        </p:nvSpPr>
        <p:spPr>
          <a:xfrm>
            <a:off x="6372225" y="2013188"/>
            <a:ext cx="1643100" cy="585900"/>
          </a:xfrm>
          <a:prstGeom prst="roundRect">
            <a:avLst>
              <a:gd fmla="val 17073" name="adj"/>
            </a:avLst>
          </a:prstGeom>
          <a:solidFill>
            <a:srgbClr val="EAE6FF"/>
          </a:solidFill>
          <a:ln cap="flat" cmpd="sng" w="14275">
            <a:solidFill>
              <a:srgbClr val="6252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7" name="Google Shape;247;p10"/>
          <p:cNvSpPr/>
          <p:nvPr/>
        </p:nvSpPr>
        <p:spPr>
          <a:xfrm>
            <a:off x="6486525" y="2113200"/>
            <a:ext cx="1414500" cy="21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43349B"/>
              </a:buClr>
              <a:buSzPts val="900"/>
              <a:buFont typeface="Helvetica Neue"/>
              <a:buNone/>
            </a:pPr>
            <a:r>
              <a:rPr b="1" i="0" lang="en" sz="900">
                <a:solidFill>
                  <a:srgbClr val="43349B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+ counterfactual verifier</a:t>
            </a:r>
            <a:endParaRPr sz="1100"/>
          </a:p>
        </p:txBody>
      </p:sp>
      <p:sp>
        <p:nvSpPr>
          <p:cNvPr id="248" name="Google Shape;248;p10"/>
          <p:cNvSpPr/>
          <p:nvPr/>
        </p:nvSpPr>
        <p:spPr>
          <a:xfrm>
            <a:off x="6486525" y="2348944"/>
            <a:ext cx="1414500" cy="18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667085"/>
              </a:buClr>
              <a:buSzPts val="700"/>
              <a:buFont typeface="Helvetica Neue"/>
              <a:buNone/>
            </a:pPr>
            <a:r>
              <a:rPr b="0" i="0" lang="en" sz="700">
                <a:solidFill>
                  <a:srgbClr val="667085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Full PeerMind</a:t>
            </a:r>
            <a:endParaRPr sz="1100"/>
          </a:p>
        </p:txBody>
      </p:sp>
      <p:cxnSp>
        <p:nvCxnSpPr>
          <p:cNvPr id="249" name="Google Shape;249;p10"/>
          <p:cNvCxnSpPr>
            <a:stCxn id="242" idx="3"/>
            <a:endCxn id="246" idx="1"/>
          </p:cNvCxnSpPr>
          <p:nvPr/>
        </p:nvCxnSpPr>
        <p:spPr>
          <a:xfrm>
            <a:off x="6043650" y="2306138"/>
            <a:ext cx="328500" cy="0"/>
          </a:xfrm>
          <a:prstGeom prst="straightConnector1">
            <a:avLst/>
          </a:prstGeom>
          <a:noFill/>
          <a:ln cap="flat" cmpd="sng" w="19050">
            <a:solidFill>
              <a:srgbClr val="6252CC"/>
            </a:solidFill>
            <a:prstDash val="solid"/>
            <a:round/>
            <a:headEnd len="sm" w="sm" type="none"/>
            <a:tailEnd len="sm" w="sm" type="triangle"/>
          </a:ln>
        </p:spPr>
      </p:cxnSp>
      <p:sp>
        <p:nvSpPr>
          <p:cNvPr id="250" name="Google Shape;250;p10"/>
          <p:cNvSpPr/>
          <p:nvPr/>
        </p:nvSpPr>
        <p:spPr>
          <a:xfrm>
            <a:off x="457200" y="2941875"/>
            <a:ext cx="1428900" cy="2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5172B"/>
              </a:buClr>
              <a:buSzPts val="1100"/>
              <a:buFont typeface="Helvetica Neue"/>
              <a:buNone/>
            </a:pPr>
            <a:r>
              <a:rPr b="1" i="0" lang="en" sz="1100">
                <a:solidFill>
                  <a:srgbClr val="15172B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Test set</a:t>
            </a:r>
            <a:endParaRPr sz="1100"/>
          </a:p>
        </p:txBody>
      </p:sp>
      <p:sp>
        <p:nvSpPr>
          <p:cNvPr id="251" name="Google Shape;251;p10"/>
          <p:cNvSpPr/>
          <p:nvPr/>
        </p:nvSpPr>
        <p:spPr>
          <a:xfrm>
            <a:off x="457200" y="3284775"/>
            <a:ext cx="57000" cy="57000"/>
          </a:xfrm>
          <a:prstGeom prst="ellipse">
            <a:avLst/>
          </a:prstGeom>
          <a:solidFill>
            <a:srgbClr val="6252CC"/>
          </a:solidFill>
          <a:ln cap="flat" cmpd="sng" w="9525">
            <a:solidFill>
              <a:srgbClr val="6252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2" name="Google Shape;252;p10"/>
          <p:cNvSpPr/>
          <p:nvPr/>
        </p:nvSpPr>
        <p:spPr>
          <a:xfrm>
            <a:off x="600075" y="3227625"/>
            <a:ext cx="3429000" cy="3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667085"/>
              </a:buClr>
              <a:buSzPts val="900"/>
              <a:buFont typeface="Helvetica Neue"/>
              <a:buNone/>
            </a:pPr>
            <a:r>
              <a:rPr b="0" i="0" lang="en" sz="900">
                <a:solidFill>
                  <a:srgbClr val="667085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Human-reviewed papers plus author rebuttals, adjudicated at the individual-finding level</a:t>
            </a:r>
            <a:endParaRPr sz="1100"/>
          </a:p>
        </p:txBody>
      </p:sp>
      <p:sp>
        <p:nvSpPr>
          <p:cNvPr id="253" name="Google Shape;253;p10"/>
          <p:cNvSpPr/>
          <p:nvPr/>
        </p:nvSpPr>
        <p:spPr>
          <a:xfrm>
            <a:off x="457200" y="3727688"/>
            <a:ext cx="57000" cy="57000"/>
          </a:xfrm>
          <a:prstGeom prst="ellipse">
            <a:avLst/>
          </a:prstGeom>
          <a:solidFill>
            <a:srgbClr val="3578B8"/>
          </a:solidFill>
          <a:ln cap="flat" cmpd="sng" w="9525">
            <a:solidFill>
              <a:srgbClr val="3578B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4" name="Google Shape;254;p10"/>
          <p:cNvSpPr/>
          <p:nvPr/>
        </p:nvSpPr>
        <p:spPr>
          <a:xfrm>
            <a:off x="600075" y="3670538"/>
            <a:ext cx="3429000" cy="3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667085"/>
              </a:buClr>
              <a:buSzPts val="900"/>
              <a:buFont typeface="Helvetica Neue"/>
              <a:buNone/>
            </a:pPr>
            <a:r>
              <a:rPr b="0" i="0" lang="en" sz="900">
                <a:solidFill>
                  <a:srgbClr val="667085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Clean PDFs paired with controlled modified PDFs that plant or remove one critique-relevant defect</a:t>
            </a:r>
            <a:endParaRPr sz="1100"/>
          </a:p>
        </p:txBody>
      </p:sp>
      <p:sp>
        <p:nvSpPr>
          <p:cNvPr id="255" name="Google Shape;255;p10"/>
          <p:cNvSpPr/>
          <p:nvPr/>
        </p:nvSpPr>
        <p:spPr>
          <a:xfrm>
            <a:off x="457200" y="4170600"/>
            <a:ext cx="57000" cy="57000"/>
          </a:xfrm>
          <a:prstGeom prst="ellipse">
            <a:avLst/>
          </a:prstGeom>
          <a:solidFill>
            <a:srgbClr val="2F9E75"/>
          </a:solidFill>
          <a:ln cap="flat" cmpd="sng" w="9525">
            <a:solidFill>
              <a:srgbClr val="2F9E7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6" name="Google Shape;256;p10"/>
          <p:cNvSpPr/>
          <p:nvPr/>
        </p:nvSpPr>
        <p:spPr>
          <a:xfrm>
            <a:off x="600075" y="4113450"/>
            <a:ext cx="3429000" cy="3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667085"/>
              </a:buClr>
              <a:buSzPts val="900"/>
              <a:buFont typeface="Helvetica Neue"/>
              <a:buNone/>
            </a:pPr>
            <a:r>
              <a:rPr b="0" i="0" lang="en" sz="900">
                <a:solidFill>
                  <a:srgbClr val="667085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Blinded human assessment of truth, relevance, evidence support and appropriate abstention</a:t>
            </a:r>
            <a:endParaRPr sz="1100"/>
          </a:p>
        </p:txBody>
      </p:sp>
      <p:sp>
        <p:nvSpPr>
          <p:cNvPr id="257" name="Google Shape;257;p10"/>
          <p:cNvSpPr/>
          <p:nvPr/>
        </p:nvSpPr>
        <p:spPr>
          <a:xfrm>
            <a:off x="4429125" y="2941875"/>
            <a:ext cx="1785900" cy="2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5172B"/>
              </a:buClr>
              <a:buSzPts val="1100"/>
              <a:buFont typeface="Helvetica Neue"/>
              <a:buNone/>
            </a:pPr>
            <a:r>
              <a:rPr b="1" i="0" lang="en" sz="1100">
                <a:solidFill>
                  <a:srgbClr val="15172B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Primary metrics</a:t>
            </a:r>
            <a:endParaRPr sz="1100"/>
          </a:p>
        </p:txBody>
      </p:sp>
      <p:sp>
        <p:nvSpPr>
          <p:cNvPr id="258" name="Google Shape;258;p10"/>
          <p:cNvSpPr/>
          <p:nvPr/>
        </p:nvSpPr>
        <p:spPr>
          <a:xfrm>
            <a:off x="4429125" y="3227625"/>
            <a:ext cx="1928700" cy="214200"/>
          </a:xfrm>
          <a:prstGeom prst="roundRect">
            <a:avLst>
              <a:gd fmla="val 50000" name="adj"/>
            </a:avLst>
          </a:prstGeom>
          <a:solidFill>
            <a:srgbClr val="EEEAFB"/>
          </a:solidFill>
          <a:ln cap="flat" cmpd="sng" w="9525">
            <a:solidFill>
              <a:srgbClr val="D9DC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4300" lIns="57150" spcFirstLastPara="1" rIns="57150" wrap="square" tIns="28575">
            <a:noAutofit/>
          </a:bodyPr>
          <a:lstStyle/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43349B"/>
              </a:buClr>
              <a:buSzPts val="700"/>
              <a:buFont typeface="Helvetica Neue"/>
              <a:buNone/>
            </a:pPr>
            <a:r>
              <a:rPr b="1" i="0" lang="en" sz="700">
                <a:solidFill>
                  <a:srgbClr val="43349B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Finding precision and false-positive rate</a:t>
            </a:r>
            <a:endParaRPr sz="1100"/>
          </a:p>
        </p:txBody>
      </p:sp>
      <p:sp>
        <p:nvSpPr>
          <p:cNvPr id="259" name="Google Shape;259;p10"/>
          <p:cNvSpPr/>
          <p:nvPr/>
        </p:nvSpPr>
        <p:spPr>
          <a:xfrm>
            <a:off x="6500813" y="3227625"/>
            <a:ext cx="1928700" cy="214200"/>
          </a:xfrm>
          <a:prstGeom prst="roundRect">
            <a:avLst>
              <a:gd fmla="val 50000" name="adj"/>
            </a:avLst>
          </a:prstGeom>
          <a:solidFill>
            <a:srgbClr val="EEEAFB"/>
          </a:solidFill>
          <a:ln cap="flat" cmpd="sng" w="9525">
            <a:solidFill>
              <a:srgbClr val="D9DC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4300" lIns="57150" spcFirstLastPara="1" rIns="57150" wrap="square" tIns="28575">
            <a:noAutofit/>
          </a:bodyPr>
          <a:lstStyle/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43349B"/>
              </a:buClr>
              <a:buSzPts val="700"/>
              <a:buFont typeface="Helvetica Neue"/>
              <a:buNone/>
            </a:pPr>
            <a:r>
              <a:rPr b="1" i="0" lang="en" sz="700">
                <a:solidFill>
                  <a:srgbClr val="43349B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Relevance calibration</a:t>
            </a:r>
            <a:endParaRPr sz="1100"/>
          </a:p>
        </p:txBody>
      </p:sp>
      <p:sp>
        <p:nvSpPr>
          <p:cNvPr id="260" name="Google Shape;260;p10"/>
          <p:cNvSpPr/>
          <p:nvPr/>
        </p:nvSpPr>
        <p:spPr>
          <a:xfrm>
            <a:off x="4429125" y="3570525"/>
            <a:ext cx="1928700" cy="214200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 cap="flat" cmpd="sng" w="9525">
            <a:solidFill>
              <a:srgbClr val="D9DC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4300" lIns="57150" spcFirstLastPara="1" rIns="57150" wrap="square" tIns="28575">
            <a:noAutofit/>
          </a:bodyPr>
          <a:lstStyle/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667085"/>
              </a:buClr>
              <a:buSzPts val="700"/>
              <a:buFont typeface="Helvetica Neue"/>
              <a:buNone/>
            </a:pPr>
            <a:r>
              <a:rPr b="1" i="0" lang="en" sz="700">
                <a:solidFill>
                  <a:srgbClr val="667085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Evidence citation accuracy</a:t>
            </a:r>
            <a:endParaRPr sz="1100"/>
          </a:p>
        </p:txBody>
      </p:sp>
      <p:sp>
        <p:nvSpPr>
          <p:cNvPr id="261" name="Google Shape;261;p10"/>
          <p:cNvSpPr/>
          <p:nvPr/>
        </p:nvSpPr>
        <p:spPr>
          <a:xfrm>
            <a:off x="6500813" y="3570525"/>
            <a:ext cx="1928700" cy="214200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 cap="flat" cmpd="sng" w="9525">
            <a:solidFill>
              <a:srgbClr val="D9DC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4300" lIns="57150" spcFirstLastPara="1" rIns="57150" wrap="square" tIns="28575">
            <a:noAutofit/>
          </a:bodyPr>
          <a:lstStyle/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667085"/>
              </a:buClr>
              <a:buSzPts val="700"/>
              <a:buFont typeface="Helvetica Neue"/>
              <a:buNone/>
            </a:pPr>
            <a:r>
              <a:rPr b="1" i="0" lang="en" sz="700">
                <a:solidFill>
                  <a:srgbClr val="667085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Refutation accuracy</a:t>
            </a:r>
            <a:endParaRPr sz="1100"/>
          </a:p>
        </p:txBody>
      </p:sp>
      <p:sp>
        <p:nvSpPr>
          <p:cNvPr id="262" name="Google Shape;262;p10"/>
          <p:cNvSpPr/>
          <p:nvPr/>
        </p:nvSpPr>
        <p:spPr>
          <a:xfrm>
            <a:off x="4429125" y="3913425"/>
            <a:ext cx="1928700" cy="214200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 cap="flat" cmpd="sng" w="9525">
            <a:solidFill>
              <a:srgbClr val="D9DC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4300" lIns="57150" spcFirstLastPara="1" rIns="57150" wrap="square" tIns="28575">
            <a:noAutofit/>
          </a:bodyPr>
          <a:lstStyle/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667085"/>
              </a:buClr>
              <a:buSzPts val="700"/>
              <a:buFont typeface="Helvetica Neue"/>
              <a:buNone/>
            </a:pPr>
            <a:r>
              <a:rPr b="1" i="0" lang="en" sz="700">
                <a:solidFill>
                  <a:srgbClr val="667085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Targeted sensitivity</a:t>
            </a:r>
            <a:endParaRPr sz="1100"/>
          </a:p>
        </p:txBody>
      </p:sp>
      <p:sp>
        <p:nvSpPr>
          <p:cNvPr id="263" name="Google Shape;263;p10"/>
          <p:cNvSpPr/>
          <p:nvPr/>
        </p:nvSpPr>
        <p:spPr>
          <a:xfrm>
            <a:off x="6500813" y="3913425"/>
            <a:ext cx="1928700" cy="214200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 cap="flat" cmpd="sng" w="9525">
            <a:solidFill>
              <a:srgbClr val="D9DC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4300" lIns="57150" spcFirstLastPara="1" rIns="57150" wrap="square" tIns="28575">
            <a:noAutofit/>
          </a:bodyPr>
          <a:lstStyle/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667085"/>
              </a:buClr>
              <a:buSzPts val="700"/>
              <a:buFont typeface="Helvetica Neue"/>
              <a:buNone/>
            </a:pPr>
            <a:r>
              <a:rPr b="1" i="0" lang="en" sz="700">
                <a:solidFill>
                  <a:srgbClr val="667085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Unrelated-control stability</a:t>
            </a:r>
            <a:endParaRPr sz="1100"/>
          </a:p>
        </p:txBody>
      </p:sp>
      <p:sp>
        <p:nvSpPr>
          <p:cNvPr id="264" name="Google Shape;264;p10"/>
          <p:cNvSpPr/>
          <p:nvPr/>
        </p:nvSpPr>
        <p:spPr>
          <a:xfrm>
            <a:off x="8343900" y="4922044"/>
            <a:ext cx="342900" cy="142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6252CC"/>
              </a:buClr>
              <a:buSzPts val="700"/>
              <a:buFont typeface="Helvetica Neue"/>
              <a:buNone/>
            </a:pPr>
            <a:r>
              <a:rPr b="1" i="0" lang="en" sz="700">
                <a:solidFill>
                  <a:srgbClr val="6252CC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08</a:t>
            </a:r>
            <a:endParaRPr sz="11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7FB"/>
        </a:solidFill>
      </p:bgPr>
    </p:bg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11"/>
          <p:cNvSpPr/>
          <p:nvPr/>
        </p:nvSpPr>
        <p:spPr>
          <a:xfrm>
            <a:off x="457200" y="271463"/>
            <a:ext cx="5857875" cy="18573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6252CC"/>
              </a:buClr>
              <a:buSzPts val="800"/>
              <a:buFont typeface="Helvetica Neue"/>
              <a:buNone/>
            </a:pPr>
            <a:r>
              <a:rPr b="1" i="0" lang="en" sz="800">
                <a:solidFill>
                  <a:srgbClr val="6252CC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REUSABLE CFAR ASSET</a:t>
            </a:r>
            <a:endParaRPr sz="1100"/>
          </a:p>
        </p:txBody>
      </p:sp>
      <p:sp>
        <p:nvSpPr>
          <p:cNvPr id="271" name="Google Shape;271;p11"/>
          <p:cNvSpPr/>
          <p:nvPr/>
        </p:nvSpPr>
        <p:spPr>
          <a:xfrm>
            <a:off x="457200" y="500063"/>
            <a:ext cx="8001000" cy="4714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5172B"/>
              </a:buClr>
              <a:buSzPts val="2100"/>
              <a:buFont typeface="Helvetica Neue"/>
              <a:buNone/>
            </a:pPr>
            <a:r>
              <a:rPr b="1" i="0" lang="en" sz="2100">
                <a:solidFill>
                  <a:srgbClr val="15172B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Reuse the verification protocol</a:t>
            </a:r>
            <a:endParaRPr sz="1100"/>
          </a:p>
        </p:txBody>
      </p:sp>
      <p:sp>
        <p:nvSpPr>
          <p:cNvPr id="272" name="Google Shape;272;p11"/>
          <p:cNvSpPr/>
          <p:nvPr/>
        </p:nvSpPr>
        <p:spPr>
          <a:xfrm>
            <a:off x="457200" y="1000125"/>
            <a:ext cx="8001000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667085"/>
              </a:buClr>
              <a:buSzPts val="1100"/>
              <a:buFont typeface="Helvetica Neue"/>
              <a:buNone/>
            </a:pPr>
            <a:r>
              <a:rPr b="0" i="0" lang="en" sz="1100">
                <a:solidFill>
                  <a:srgbClr val="667085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The durable unit is a typed record: claim, evidence, counter-evidence, intervention and verdict.</a:t>
            </a:r>
            <a:endParaRPr sz="1100"/>
          </a:p>
        </p:txBody>
      </p:sp>
      <p:sp>
        <p:nvSpPr>
          <p:cNvPr id="273" name="Google Shape;273;p11"/>
          <p:cNvSpPr/>
          <p:nvPr/>
        </p:nvSpPr>
        <p:spPr>
          <a:xfrm>
            <a:off x="3571875" y="1757363"/>
            <a:ext cx="2000250" cy="1243013"/>
          </a:xfrm>
          <a:prstGeom prst="ellipse">
            <a:avLst/>
          </a:prstGeom>
          <a:solidFill>
            <a:srgbClr val="EAE6FF"/>
          </a:solidFill>
          <a:ln cap="flat" cmpd="sng" w="19050">
            <a:solidFill>
              <a:srgbClr val="6252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4" name="Google Shape;274;p11"/>
          <p:cNvSpPr/>
          <p:nvPr/>
        </p:nvSpPr>
        <p:spPr>
          <a:xfrm>
            <a:off x="3814763" y="2014538"/>
            <a:ext cx="1514475" cy="72866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43349B"/>
              </a:buClr>
              <a:buSzPts val="1400"/>
              <a:buFont typeface="Helvetica Neue"/>
              <a:buNone/>
            </a:pPr>
            <a:r>
              <a:rPr b="1" i="0" lang="en" sz="1400">
                <a:solidFill>
                  <a:srgbClr val="43349B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EVIDENCE</a:t>
            </a:r>
            <a:endParaRPr sz="1100"/>
          </a:p>
          <a:p>
            <a:pPr indent="0" lvl="0" marL="0" marR="0" rtl="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43349B"/>
              </a:buClr>
              <a:buSzPts val="1400"/>
              <a:buFont typeface="Helvetica Neue"/>
              <a:buNone/>
            </a:pPr>
            <a:r>
              <a:rPr b="1" i="0" lang="en" sz="1400">
                <a:solidFill>
                  <a:srgbClr val="43349B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LEDGER</a:t>
            </a:r>
            <a:endParaRPr sz="1100"/>
          </a:p>
          <a:p>
            <a:pPr indent="0" lvl="0" marL="0" marR="0" rtl="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43349B"/>
              </a:buClr>
              <a:buSzPts val="1400"/>
              <a:buFont typeface="Helvetica Neue"/>
              <a:buNone/>
            </a:pPr>
            <a:r>
              <a:rPr b="1" i="0" lang="en" sz="1400">
                <a:solidFill>
                  <a:srgbClr val="43349B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CONTRACT</a:t>
            </a:r>
            <a:endParaRPr sz="1100"/>
          </a:p>
        </p:txBody>
      </p:sp>
      <p:sp>
        <p:nvSpPr>
          <p:cNvPr id="275" name="Google Shape;275;p11"/>
          <p:cNvSpPr/>
          <p:nvPr/>
        </p:nvSpPr>
        <p:spPr>
          <a:xfrm>
            <a:off x="457200" y="1500188"/>
            <a:ext cx="2400300" cy="828675"/>
          </a:xfrm>
          <a:prstGeom prst="roundRect">
            <a:avLst>
              <a:gd fmla="val 12069" name="adj"/>
            </a:avLst>
          </a:prstGeom>
          <a:solidFill>
            <a:srgbClr val="EAE6FF"/>
          </a:solidFill>
          <a:ln cap="flat" cmpd="sng" w="14275">
            <a:solidFill>
              <a:srgbClr val="6252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6" name="Google Shape;276;p11"/>
          <p:cNvSpPr/>
          <p:nvPr/>
        </p:nvSpPr>
        <p:spPr>
          <a:xfrm>
            <a:off x="571500" y="1600200"/>
            <a:ext cx="2171700" cy="2143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6252CC"/>
              </a:buClr>
              <a:buSzPts val="1100"/>
              <a:buFont typeface="Helvetica Neue"/>
              <a:buNone/>
            </a:pPr>
            <a:r>
              <a:rPr b="1" i="0" lang="en" sz="1100">
                <a:solidFill>
                  <a:srgbClr val="6252CC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Paper graph schema</a:t>
            </a:r>
            <a:endParaRPr sz="1100"/>
          </a:p>
        </p:txBody>
      </p:sp>
      <p:sp>
        <p:nvSpPr>
          <p:cNvPr id="277" name="Google Shape;277;p11"/>
          <p:cNvSpPr/>
          <p:nvPr/>
        </p:nvSpPr>
        <p:spPr>
          <a:xfrm>
            <a:off x="571500" y="1835944"/>
            <a:ext cx="2171700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667085"/>
              </a:buClr>
              <a:buSzPts val="800"/>
              <a:buFont typeface="Helvetica Neue"/>
              <a:buNone/>
            </a:pPr>
            <a:r>
              <a:rPr b="0" i="0" lang="en" sz="800">
                <a:solidFill>
                  <a:srgbClr val="667085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Claims, methods, results and exact source locations</a:t>
            </a:r>
            <a:endParaRPr sz="1100"/>
          </a:p>
        </p:txBody>
      </p:sp>
      <p:sp>
        <p:nvSpPr>
          <p:cNvPr id="278" name="Google Shape;278;p11"/>
          <p:cNvSpPr/>
          <p:nvPr/>
        </p:nvSpPr>
        <p:spPr>
          <a:xfrm>
            <a:off x="457200" y="2771775"/>
            <a:ext cx="2400300" cy="828675"/>
          </a:xfrm>
          <a:prstGeom prst="roundRect">
            <a:avLst>
              <a:gd fmla="val 12069" name="adj"/>
            </a:avLst>
          </a:prstGeom>
          <a:solidFill>
            <a:srgbClr val="E9F2FB"/>
          </a:solidFill>
          <a:ln cap="flat" cmpd="sng" w="14275">
            <a:solidFill>
              <a:srgbClr val="3578B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9" name="Google Shape;279;p11"/>
          <p:cNvSpPr/>
          <p:nvPr/>
        </p:nvSpPr>
        <p:spPr>
          <a:xfrm>
            <a:off x="571500" y="2871788"/>
            <a:ext cx="2171700" cy="2143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3578B8"/>
              </a:buClr>
              <a:buSzPts val="1100"/>
              <a:buFont typeface="Helvetica Neue"/>
              <a:buNone/>
            </a:pPr>
            <a:r>
              <a:rPr b="1" i="0" lang="en" sz="1100">
                <a:solidFill>
                  <a:srgbClr val="3578B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Dynamic role router</a:t>
            </a:r>
            <a:endParaRPr sz="1100"/>
          </a:p>
        </p:txBody>
      </p:sp>
      <p:sp>
        <p:nvSpPr>
          <p:cNvPr id="280" name="Google Shape;280;p11"/>
          <p:cNvSpPr/>
          <p:nvPr/>
        </p:nvSpPr>
        <p:spPr>
          <a:xfrm>
            <a:off x="571500" y="3107531"/>
            <a:ext cx="2171700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667085"/>
              </a:buClr>
              <a:buSzPts val="800"/>
              <a:buFont typeface="Helvetica Neue"/>
              <a:buNone/>
            </a:pPr>
            <a:r>
              <a:rPr b="0" i="0" lang="en" sz="800">
                <a:solidFill>
                  <a:srgbClr val="667085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Generate only the specialists required by the finding</a:t>
            </a:r>
            <a:endParaRPr sz="1100"/>
          </a:p>
        </p:txBody>
      </p:sp>
      <p:sp>
        <p:nvSpPr>
          <p:cNvPr id="281" name="Google Shape;281;p11"/>
          <p:cNvSpPr/>
          <p:nvPr/>
        </p:nvSpPr>
        <p:spPr>
          <a:xfrm>
            <a:off x="6215063" y="1500188"/>
            <a:ext cx="2400300" cy="828675"/>
          </a:xfrm>
          <a:prstGeom prst="roundRect">
            <a:avLst>
              <a:gd fmla="val 12069" name="adj"/>
            </a:avLst>
          </a:prstGeom>
          <a:solidFill>
            <a:srgbClr val="FFF2D8"/>
          </a:solidFill>
          <a:ln cap="flat" cmpd="sng" w="14275">
            <a:solidFill>
              <a:srgbClr val="B7771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2" name="Google Shape;282;p11"/>
          <p:cNvSpPr/>
          <p:nvPr/>
        </p:nvSpPr>
        <p:spPr>
          <a:xfrm>
            <a:off x="6329363" y="1600200"/>
            <a:ext cx="2171700" cy="2143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B77718"/>
              </a:buClr>
              <a:buSzPts val="1100"/>
              <a:buFont typeface="Helvetica Neue"/>
              <a:buNone/>
            </a:pPr>
            <a:r>
              <a:rPr b="1" i="0" lang="en" sz="1100">
                <a:solidFill>
                  <a:srgbClr val="B7771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Critique contract</a:t>
            </a:r>
            <a:endParaRPr sz="1100"/>
          </a:p>
        </p:txBody>
      </p:sp>
      <p:sp>
        <p:nvSpPr>
          <p:cNvPr id="283" name="Google Shape;283;p11"/>
          <p:cNvSpPr/>
          <p:nvPr/>
        </p:nvSpPr>
        <p:spPr>
          <a:xfrm>
            <a:off x="6329363" y="1835944"/>
            <a:ext cx="2171700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667085"/>
              </a:buClr>
              <a:buSzPts val="800"/>
              <a:buFont typeface="Helvetica Neue"/>
              <a:buNone/>
            </a:pPr>
            <a:r>
              <a:rPr b="0" i="0" lang="en" sz="800">
                <a:solidFill>
                  <a:srgbClr val="667085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Scope, falsifier, evidence burden and stop rule</a:t>
            </a:r>
            <a:endParaRPr sz="1100"/>
          </a:p>
        </p:txBody>
      </p:sp>
      <p:sp>
        <p:nvSpPr>
          <p:cNvPr id="284" name="Google Shape;284;p11"/>
          <p:cNvSpPr/>
          <p:nvPr/>
        </p:nvSpPr>
        <p:spPr>
          <a:xfrm>
            <a:off x="6215063" y="2771775"/>
            <a:ext cx="2400300" cy="828675"/>
          </a:xfrm>
          <a:prstGeom prst="roundRect">
            <a:avLst>
              <a:gd fmla="val 12069" name="adj"/>
            </a:avLst>
          </a:prstGeom>
          <a:solidFill>
            <a:srgbClr val="E7F6EF"/>
          </a:solidFill>
          <a:ln cap="flat" cmpd="sng" w="14275">
            <a:solidFill>
              <a:srgbClr val="2F9E7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5" name="Google Shape;285;p11"/>
          <p:cNvSpPr/>
          <p:nvPr/>
        </p:nvSpPr>
        <p:spPr>
          <a:xfrm>
            <a:off x="6329363" y="2871788"/>
            <a:ext cx="2171700" cy="2143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2F9E75"/>
              </a:buClr>
              <a:buSzPts val="1100"/>
              <a:buFont typeface="Helvetica Neue"/>
              <a:buNone/>
            </a:pPr>
            <a:r>
              <a:rPr b="1" i="0" lang="en" sz="1100">
                <a:solidFill>
                  <a:srgbClr val="2F9E75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Counterfactual harness</a:t>
            </a:r>
            <a:endParaRPr sz="1100"/>
          </a:p>
        </p:txBody>
      </p:sp>
      <p:sp>
        <p:nvSpPr>
          <p:cNvPr id="286" name="Google Shape;286;p11"/>
          <p:cNvSpPr/>
          <p:nvPr/>
        </p:nvSpPr>
        <p:spPr>
          <a:xfrm>
            <a:off x="6329363" y="3107531"/>
            <a:ext cx="2171700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667085"/>
              </a:buClr>
              <a:buSzPts val="800"/>
              <a:buFont typeface="Helvetica Neue"/>
              <a:buNone/>
            </a:pPr>
            <a:r>
              <a:rPr b="0" i="0" lang="en" sz="800">
                <a:solidFill>
                  <a:srgbClr val="667085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Baseline, targeted intervention and unrelated control</a:t>
            </a:r>
            <a:endParaRPr sz="1100"/>
          </a:p>
        </p:txBody>
      </p:sp>
      <p:sp>
        <p:nvSpPr>
          <p:cNvPr id="287" name="Google Shape;287;p11"/>
          <p:cNvSpPr/>
          <p:nvPr/>
        </p:nvSpPr>
        <p:spPr>
          <a:xfrm>
            <a:off x="3543300" y="2257425"/>
            <a:ext cx="28575" cy="28575"/>
          </a:xfrm>
          <a:prstGeom prst="ellipse">
            <a:avLst/>
          </a:prstGeom>
          <a:solidFill>
            <a:srgbClr val="6252CC"/>
          </a:solidFill>
          <a:ln cap="flat" cmpd="sng" w="9525">
            <a:solidFill>
              <a:srgbClr val="6252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88" name="Google Shape;288;p11"/>
          <p:cNvCxnSpPr>
            <a:stCxn id="275" idx="3"/>
            <a:endCxn id="287" idx="2"/>
          </p:cNvCxnSpPr>
          <p:nvPr/>
        </p:nvCxnSpPr>
        <p:spPr>
          <a:xfrm>
            <a:off x="2857500" y="1914525"/>
            <a:ext cx="685800" cy="357300"/>
          </a:xfrm>
          <a:prstGeom prst="straightConnector1">
            <a:avLst/>
          </a:prstGeom>
          <a:noFill/>
          <a:ln cap="flat" cmpd="sng" w="19050">
            <a:solidFill>
              <a:srgbClr val="6252CC"/>
            </a:solidFill>
            <a:prstDash val="solid"/>
            <a:round/>
            <a:headEnd len="sm" w="sm" type="none"/>
            <a:tailEnd len="sm" w="sm" type="triangle"/>
          </a:ln>
        </p:spPr>
      </p:cxnSp>
      <p:sp>
        <p:nvSpPr>
          <p:cNvPr id="289" name="Google Shape;289;p11"/>
          <p:cNvSpPr/>
          <p:nvPr/>
        </p:nvSpPr>
        <p:spPr>
          <a:xfrm>
            <a:off x="3543300" y="2500313"/>
            <a:ext cx="28575" cy="28575"/>
          </a:xfrm>
          <a:prstGeom prst="ellipse">
            <a:avLst/>
          </a:prstGeom>
          <a:solidFill>
            <a:srgbClr val="3578B8"/>
          </a:solidFill>
          <a:ln cap="flat" cmpd="sng" w="9525">
            <a:solidFill>
              <a:srgbClr val="3578B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90" name="Google Shape;290;p11"/>
          <p:cNvCxnSpPr>
            <a:stCxn id="278" idx="3"/>
            <a:endCxn id="289" idx="2"/>
          </p:cNvCxnSpPr>
          <p:nvPr/>
        </p:nvCxnSpPr>
        <p:spPr>
          <a:xfrm flipH="1" rot="10800000">
            <a:off x="2857500" y="2514713"/>
            <a:ext cx="685800" cy="671400"/>
          </a:xfrm>
          <a:prstGeom prst="straightConnector1">
            <a:avLst/>
          </a:prstGeom>
          <a:noFill/>
          <a:ln cap="flat" cmpd="sng" w="19050">
            <a:solidFill>
              <a:srgbClr val="3578B8"/>
            </a:solidFill>
            <a:prstDash val="solid"/>
            <a:round/>
            <a:headEnd len="sm" w="sm" type="none"/>
            <a:tailEnd len="sm" w="sm" type="triangle"/>
          </a:ln>
        </p:spPr>
      </p:cxnSp>
      <p:sp>
        <p:nvSpPr>
          <p:cNvPr id="291" name="Google Shape;291;p11"/>
          <p:cNvSpPr/>
          <p:nvPr/>
        </p:nvSpPr>
        <p:spPr>
          <a:xfrm>
            <a:off x="5572125" y="2257425"/>
            <a:ext cx="28575" cy="28575"/>
          </a:xfrm>
          <a:prstGeom prst="ellipse">
            <a:avLst/>
          </a:prstGeom>
          <a:solidFill>
            <a:srgbClr val="B77718"/>
          </a:solidFill>
          <a:ln cap="flat" cmpd="sng" w="9525">
            <a:solidFill>
              <a:srgbClr val="B7771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92" name="Google Shape;292;p11"/>
          <p:cNvCxnSpPr>
            <a:stCxn id="291" idx="6"/>
            <a:endCxn id="281" idx="1"/>
          </p:cNvCxnSpPr>
          <p:nvPr/>
        </p:nvCxnSpPr>
        <p:spPr>
          <a:xfrm flipH="1" rot="10800000">
            <a:off x="5600700" y="1914413"/>
            <a:ext cx="614400" cy="357300"/>
          </a:xfrm>
          <a:prstGeom prst="straightConnector1">
            <a:avLst/>
          </a:prstGeom>
          <a:noFill/>
          <a:ln cap="flat" cmpd="sng" w="19050">
            <a:solidFill>
              <a:srgbClr val="B77718"/>
            </a:solidFill>
            <a:prstDash val="solid"/>
            <a:round/>
            <a:headEnd len="sm" w="sm" type="none"/>
            <a:tailEnd len="sm" w="sm" type="triangle"/>
          </a:ln>
        </p:spPr>
      </p:cxnSp>
      <p:sp>
        <p:nvSpPr>
          <p:cNvPr id="293" name="Google Shape;293;p11"/>
          <p:cNvSpPr/>
          <p:nvPr/>
        </p:nvSpPr>
        <p:spPr>
          <a:xfrm>
            <a:off x="5572125" y="2500313"/>
            <a:ext cx="28575" cy="28575"/>
          </a:xfrm>
          <a:prstGeom prst="ellipse">
            <a:avLst/>
          </a:prstGeom>
          <a:solidFill>
            <a:srgbClr val="2F9E75"/>
          </a:solidFill>
          <a:ln cap="flat" cmpd="sng" w="9525">
            <a:solidFill>
              <a:srgbClr val="2F9E7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94" name="Google Shape;294;p11"/>
          <p:cNvCxnSpPr>
            <a:stCxn id="293" idx="6"/>
            <a:endCxn id="284" idx="1"/>
          </p:cNvCxnSpPr>
          <p:nvPr/>
        </p:nvCxnSpPr>
        <p:spPr>
          <a:xfrm>
            <a:off x="5600700" y="2514600"/>
            <a:ext cx="614400" cy="671400"/>
          </a:xfrm>
          <a:prstGeom prst="straightConnector1">
            <a:avLst/>
          </a:prstGeom>
          <a:noFill/>
          <a:ln cap="flat" cmpd="sng" w="19050">
            <a:solidFill>
              <a:srgbClr val="2F9E75"/>
            </a:solidFill>
            <a:prstDash val="solid"/>
            <a:round/>
            <a:headEnd len="sm" w="sm" type="none"/>
            <a:tailEnd len="sm" w="sm" type="triangle"/>
          </a:ln>
        </p:spPr>
      </p:cxnSp>
      <p:sp>
        <p:nvSpPr>
          <p:cNvPr id="295" name="Google Shape;295;p11"/>
          <p:cNvSpPr/>
          <p:nvPr/>
        </p:nvSpPr>
        <p:spPr>
          <a:xfrm>
            <a:off x="457200" y="3929063"/>
            <a:ext cx="11430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6252CC"/>
              </a:buClr>
              <a:buSzPts val="800"/>
              <a:buFont typeface="Helvetica Neue"/>
              <a:buNone/>
            </a:pPr>
            <a:r>
              <a:rPr b="1" i="0" lang="en" sz="800">
                <a:solidFill>
                  <a:srgbClr val="6252CC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Package</a:t>
            </a:r>
            <a:endParaRPr sz="1100"/>
          </a:p>
        </p:txBody>
      </p:sp>
      <p:sp>
        <p:nvSpPr>
          <p:cNvPr id="296" name="Google Shape;296;p11"/>
          <p:cNvSpPr/>
          <p:nvPr/>
        </p:nvSpPr>
        <p:spPr>
          <a:xfrm>
            <a:off x="457200" y="4157663"/>
            <a:ext cx="2143125" cy="3857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5172B"/>
              </a:buClr>
              <a:buSzPts val="1000"/>
              <a:buFont typeface="Helvetica Neue"/>
              <a:buNone/>
            </a:pPr>
            <a:r>
              <a:rPr b="1" i="0" lang="en" sz="1000">
                <a:solidFill>
                  <a:srgbClr val="15172B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Local service: PDF in, ledger JSON and report out</a:t>
            </a:r>
            <a:endParaRPr sz="1100"/>
          </a:p>
        </p:txBody>
      </p:sp>
      <p:sp>
        <p:nvSpPr>
          <p:cNvPr id="297" name="Google Shape;297;p11"/>
          <p:cNvSpPr/>
          <p:nvPr/>
        </p:nvSpPr>
        <p:spPr>
          <a:xfrm>
            <a:off x="3257550" y="3929063"/>
            <a:ext cx="11430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3578B8"/>
              </a:buClr>
              <a:buSzPts val="800"/>
              <a:buFont typeface="Helvetica Neue"/>
              <a:buNone/>
            </a:pPr>
            <a:r>
              <a:rPr b="1" i="0" lang="en" sz="800">
                <a:solidFill>
                  <a:srgbClr val="3578B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Pilot</a:t>
            </a:r>
            <a:endParaRPr sz="1100"/>
          </a:p>
        </p:txBody>
      </p:sp>
      <p:sp>
        <p:nvSpPr>
          <p:cNvPr id="298" name="Google Shape;298;p11"/>
          <p:cNvSpPr/>
          <p:nvPr/>
        </p:nvSpPr>
        <p:spPr>
          <a:xfrm>
            <a:off x="3257550" y="4157663"/>
            <a:ext cx="2286000" cy="3857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5172B"/>
              </a:buClr>
              <a:buSzPts val="1000"/>
              <a:buFont typeface="Helvetica Neue"/>
              <a:buNone/>
            </a:pPr>
            <a:r>
              <a:rPr b="1" i="0" lang="en" sz="1000">
                <a:solidFill>
                  <a:srgbClr val="15172B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Blinded CFAR paper set with finding-level adjudication</a:t>
            </a:r>
            <a:endParaRPr sz="1100"/>
          </a:p>
        </p:txBody>
      </p:sp>
      <p:sp>
        <p:nvSpPr>
          <p:cNvPr id="299" name="Google Shape;299;p11"/>
          <p:cNvSpPr/>
          <p:nvPr/>
        </p:nvSpPr>
        <p:spPr>
          <a:xfrm>
            <a:off x="6129338" y="3929063"/>
            <a:ext cx="11430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2F9E75"/>
              </a:buClr>
              <a:buSzPts val="800"/>
              <a:buFont typeface="Helvetica Neue"/>
              <a:buNone/>
            </a:pPr>
            <a:r>
              <a:rPr b="1" i="0" lang="en" sz="800">
                <a:solidFill>
                  <a:srgbClr val="2F9E75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Extend</a:t>
            </a:r>
            <a:endParaRPr sz="1100"/>
          </a:p>
        </p:txBody>
      </p:sp>
      <p:sp>
        <p:nvSpPr>
          <p:cNvPr id="300" name="Google Shape;300;p11"/>
          <p:cNvSpPr/>
          <p:nvPr/>
        </p:nvSpPr>
        <p:spPr>
          <a:xfrm>
            <a:off x="6129338" y="4157663"/>
            <a:ext cx="2500313" cy="3857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5172B"/>
              </a:buClr>
              <a:buSzPts val="1000"/>
              <a:buFont typeface="Helvetica Neue"/>
              <a:buNone/>
            </a:pPr>
            <a:r>
              <a:rPr b="1" i="0" lang="en" sz="1000">
                <a:solidFill>
                  <a:srgbClr val="15172B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Reuse for proposal claims, literature contradictions and research-plan checks</a:t>
            </a:r>
            <a:endParaRPr sz="1100"/>
          </a:p>
        </p:txBody>
      </p:sp>
      <p:cxnSp>
        <p:nvCxnSpPr>
          <p:cNvPr id="301" name="Google Shape;301;p11"/>
          <p:cNvCxnSpPr/>
          <p:nvPr/>
        </p:nvCxnSpPr>
        <p:spPr>
          <a:xfrm>
            <a:off x="2786063" y="3900488"/>
            <a:ext cx="0" cy="657225"/>
          </a:xfrm>
          <a:prstGeom prst="straightConnector1">
            <a:avLst/>
          </a:prstGeom>
          <a:noFill/>
          <a:ln cap="flat" cmpd="sng" w="9525">
            <a:solidFill>
              <a:srgbClr val="D9DCE8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02" name="Google Shape;302;p11"/>
          <p:cNvCxnSpPr/>
          <p:nvPr/>
        </p:nvCxnSpPr>
        <p:spPr>
          <a:xfrm>
            <a:off x="5800725" y="3900488"/>
            <a:ext cx="0" cy="657225"/>
          </a:xfrm>
          <a:prstGeom prst="straightConnector1">
            <a:avLst/>
          </a:prstGeom>
          <a:noFill/>
          <a:ln cap="flat" cmpd="sng" w="9525">
            <a:solidFill>
              <a:srgbClr val="D9DCE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03" name="Google Shape;303;p11"/>
          <p:cNvSpPr/>
          <p:nvPr/>
        </p:nvSpPr>
        <p:spPr>
          <a:xfrm>
            <a:off x="8343900" y="4922044"/>
            <a:ext cx="342900" cy="142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6252CC"/>
              </a:buClr>
              <a:buSzPts val="700"/>
              <a:buFont typeface="Helvetica Neue"/>
              <a:buNone/>
            </a:pPr>
            <a:r>
              <a:rPr b="1" i="0" lang="en" sz="700">
                <a:solidFill>
                  <a:srgbClr val="6252CC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09</a:t>
            </a:r>
            <a:endParaRPr sz="11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7FB"/>
        </a:solidFill>
      </p:bgPr>
    </p:bg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12"/>
          <p:cNvSpPr/>
          <p:nvPr/>
        </p:nvSpPr>
        <p:spPr>
          <a:xfrm>
            <a:off x="457200" y="1672178"/>
            <a:ext cx="8229600" cy="13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15172B"/>
              </a:buClr>
              <a:buSzPts val="2700"/>
              <a:buFont typeface="Helvetica Neue"/>
              <a:buNone/>
            </a:pPr>
            <a:r>
              <a:t/>
            </a:r>
            <a:endParaRPr b="1" sz="2700">
              <a:solidFill>
                <a:srgbClr val="15172B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15172B"/>
              </a:buClr>
              <a:buSzPts val="2700"/>
              <a:buFont typeface="Helvetica Neue"/>
              <a:buNone/>
            </a:pPr>
            <a:r>
              <a:rPr b="1" lang="en" sz="2700">
                <a:solidFill>
                  <a:srgbClr val="15172B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Thank you!</a:t>
            </a:r>
            <a:endParaRPr b="1" sz="1300">
              <a:solidFill>
                <a:srgbClr val="15172B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310" name="Google Shape;310;p12"/>
          <p:cNvSpPr/>
          <p:nvPr/>
        </p:nvSpPr>
        <p:spPr>
          <a:xfrm>
            <a:off x="8343900" y="4922044"/>
            <a:ext cx="342900" cy="14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6252CC"/>
              </a:buClr>
              <a:buSzPts val="700"/>
              <a:buFont typeface="Helvetica Neue"/>
              <a:buNone/>
            </a:pPr>
            <a:r>
              <a:rPr b="1" i="0" lang="en" sz="700">
                <a:solidFill>
                  <a:srgbClr val="6252CC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01</a:t>
            </a:r>
            <a:endParaRPr sz="11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